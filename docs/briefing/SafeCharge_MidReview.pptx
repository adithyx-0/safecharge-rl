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ff98ec2c-bf28-a199-fd08-0b3e597bc8d8}">
          <p14:sldIdLst>
            <p14:sldId id="256"/>
            <p14:sldId id="257"/>
            <p14:sldId id="258"/>
          </p14:sldIdLst>
        </p14:section>
        <p14:section name="Design" id="{15d35712-da1b-9418-63ec-2c5619379c69}">
          <p14:sldIdLst>
            <p14:sldId id="259"/>
            <p14:sldId id="260"/>
            <p14:sldId id="261"/>
            <p14:sldId id="262"/>
          </p14:sldIdLst>
        </p14:section>
        <p14:section name="Results" id="{cff0a149-9f8e-42dd-0832-20d893111213}">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2545"/>
                </a:solidFill>
                <a:latin typeface="+mn-lt"/>
              </a:defRPr>
            </a:pPr>
            <a:r>
              <a:rPr sz="1500" b="0" i="0" u="none" strike="noStrike">
                <a:solidFill>
                  <a:srgbClr val="0B2545"/>
                </a:solidFill>
                <a:latin typeface="+mn-lt"/>
              </a:rPr>
              <a:t>Extra energy gained by reporting early (% of request)</a:t>
            </a:r>
          </a:p>
        </c:rich>
      </c:tx>
      <c:layout/>
      <c:overlay val="0"/>
    </c:title>
    <c:autoTitleDeleted val="0"/>
    <c:plotArea>
      <c:layout/>
      <c:lineChart>
        <c:varyColors val="0"/>
        <c:ser>
          <c:idx val="0"/>
          <c:order val="0"/>
          <c:tx>
            <c:strRef>
              <c:f>Sheet1!$B$1</c:f>
              <c:strCache>
                <c:ptCount val="1"/>
                <c:pt idx="0">
                  <c:v>Learned policy</c:v>
                </c:pt>
              </c:strCache>
            </c:strRef>
          </c:tx>
          <c:spPr>
            <a:solidFill>
              <a:srgbClr val="D55E00"/>
            </a:solidFill>
            <a:ln w="38100" cap="flat">
              <a:solidFill>
                <a:srgbClr val="D55E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D55E00"/>
              </a:solidFill>
              <a:ln w="9525" cap="flat">
                <a:solidFill>
                  <a:srgbClr val="D55E00"/>
                </a:solidFill>
                <a:prstDash val="solid"/>
                <a:round/>
              </a:ln>
              <a:effectLst/>
            </c:spPr>
          </c:marker>
          <c:cat>
            <c:multiLvlStrRef>
              <c:f>Sheet1!$A$2:$A$4</c:f>
              <c:multiLvlStrCache>
                <c:ptCount val="3"/>
                <c:lvl>
                  <c:pt idx="0">
                    <c:v>0.5 h early</c:v>
                  </c:pt>
                  <c:pt idx="1">
                    <c:v>1 h early</c:v>
                  </c:pt>
                  <c:pt idx="2">
                    <c:v>2 h early</c:v>
                  </c:pt>
                </c:lvl>
              </c:multiLvlStrCache>
            </c:multiLvlStrRef>
          </c:cat>
          <c:val>
            <c:numRef>
              <c:f>Sheet1!$B$2:$B$4</c:f>
              <c:numCache>
                <c:formatCode>General</c:formatCode>
                <c:ptCount val="3"/>
                <c:pt idx="0">
                  <c:v>0.84</c:v>
                </c:pt>
                <c:pt idx="1">
                  <c:v>1.13</c:v>
                </c:pt>
                <c:pt idx="2">
                  <c:v>1.5</c:v>
                </c:pt>
              </c:numCache>
            </c:numRef>
          </c:val>
          <c:smooth val="0"/>
        </c:ser>
        <c:ser>
          <c:idx val="1"/>
          <c:order val="1"/>
          <c:tx>
            <c:strRef>
              <c:f>Sheet1!$C$1</c:f>
              <c:strCache>
                <c:ptCount val="1"/>
                <c:pt idx="0">
                  <c:v>MPC</c:v>
                </c:pt>
              </c:strCache>
            </c:strRef>
          </c:tx>
          <c:spPr>
            <a:solidFill>
              <a:srgbClr val="CC79A7"/>
            </a:solidFill>
            <a:ln w="38100" cap="flat">
              <a:solidFill>
                <a:srgbClr val="CC79A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C79A7"/>
              </a:solidFill>
              <a:ln w="9525" cap="flat">
                <a:solidFill>
                  <a:srgbClr val="CC79A7"/>
                </a:solidFill>
                <a:prstDash val="solid"/>
                <a:round/>
              </a:ln>
              <a:effectLst/>
            </c:spPr>
          </c:marker>
          <c:cat>
            <c:multiLvlStrRef>
              <c:f>Sheet1!$A$2:$A$4</c:f>
              <c:multiLvlStrCache>
                <c:ptCount val="3"/>
                <c:lvl>
                  <c:pt idx="0">
                    <c:v>0.5 h early</c:v>
                  </c:pt>
                  <c:pt idx="1">
                    <c:v>1 h early</c:v>
                  </c:pt>
                  <c:pt idx="2">
                    <c:v>2 h early</c:v>
                  </c:pt>
                </c:lvl>
              </c:multiLvlStrCache>
            </c:multiLvlStrRef>
          </c:cat>
          <c:val>
            <c:numRef>
              <c:f>Sheet1!$C$2:$C$4</c:f>
              <c:numCache>
                <c:formatCode>General</c:formatCode>
                <c:ptCount val="3"/>
                <c:pt idx="0">
                  <c:v>0.5</c:v>
                </c:pt>
                <c:pt idx="1">
                  <c:v>0.85</c:v>
                </c:pt>
                <c:pt idx="2">
                  <c:v>0.97</c:v>
                </c:pt>
              </c:numCache>
            </c:numRef>
          </c:val>
          <c:smooth val="0"/>
        </c:ser>
        <c:ser>
          <c:idx val="2"/>
          <c:order val="2"/>
          <c:tx>
            <c:strRef>
              <c:f>Sheet1!$D$1</c:f>
              <c:strCache>
                <c:ptCount val="1"/>
                <c:pt idx="0">
                  <c:v>LLF</c:v>
                </c:pt>
              </c:strCache>
            </c:strRef>
          </c:tx>
          <c:spPr>
            <a:solidFill>
              <a:srgbClr val="009E73"/>
            </a:solidFill>
            <a:ln w="38100" cap="flat">
              <a:solidFill>
                <a:srgbClr val="009E7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09E73"/>
              </a:solidFill>
              <a:ln w="9525" cap="flat">
                <a:solidFill>
                  <a:srgbClr val="009E73"/>
                </a:solidFill>
                <a:prstDash val="solid"/>
                <a:round/>
              </a:ln>
              <a:effectLst/>
            </c:spPr>
          </c:marker>
          <c:cat>
            <c:multiLvlStrRef>
              <c:f>Sheet1!$A$2:$A$4</c:f>
              <c:multiLvlStrCache>
                <c:ptCount val="3"/>
                <c:lvl>
                  <c:pt idx="0">
                    <c:v>0.5 h early</c:v>
                  </c:pt>
                  <c:pt idx="1">
                    <c:v>1 h early</c:v>
                  </c:pt>
                  <c:pt idx="2">
                    <c:v>2 h early</c:v>
                  </c:pt>
                </c:lvl>
              </c:multiLvlStrCache>
            </c:multiLvlStrRef>
          </c:cat>
          <c:val>
            <c:numRef>
              <c:f>Sheet1!$D$2:$D$4</c:f>
              <c:numCache>
                <c:formatCode>General</c:formatCode>
                <c:ptCount val="3"/>
                <c:pt idx="0">
                  <c:v>0.46</c:v>
                </c:pt>
                <c:pt idx="1">
                  <c:v>0.66</c:v>
                </c:pt>
                <c:pt idx="2">
                  <c:v>0.95</c:v>
                </c:pt>
              </c:numCache>
            </c:numRef>
          </c:val>
          <c:smooth val="0"/>
        </c:ser>
        <c:ser>
          <c:idx val="3"/>
          <c:order val="3"/>
          <c:tx>
            <c:strRef>
              <c:f>Sheet1!$E$1</c:f>
              <c:strCache>
                <c:ptCount val="1"/>
                <c:pt idx="0">
                  <c:v>EDF</c:v>
                </c:pt>
              </c:strCache>
            </c:strRef>
          </c:tx>
          <c:spPr>
            <a:solidFill>
              <a:srgbClr val="0072B2"/>
            </a:solidFill>
            <a:ln w="38100" cap="flat">
              <a:solidFill>
                <a:srgbClr val="0072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072B2"/>
              </a:solidFill>
              <a:ln w="9525" cap="flat">
                <a:solidFill>
                  <a:srgbClr val="0072B2"/>
                </a:solidFill>
                <a:prstDash val="solid"/>
                <a:round/>
              </a:ln>
              <a:effectLst/>
            </c:spPr>
          </c:marker>
          <c:cat>
            <c:multiLvlStrRef>
              <c:f>Sheet1!$A$2:$A$4</c:f>
              <c:multiLvlStrCache>
                <c:ptCount val="3"/>
                <c:lvl>
                  <c:pt idx="0">
                    <c:v>0.5 h early</c:v>
                  </c:pt>
                  <c:pt idx="1">
                    <c:v>1 h early</c:v>
                  </c:pt>
                  <c:pt idx="2">
                    <c:v>2 h early</c:v>
                  </c:pt>
                </c:lvl>
              </c:multiLvlStrCache>
            </c:multiLvlStrRef>
          </c:cat>
          <c:val>
            <c:numRef>
              <c:f>Sheet1!$E$2:$E$4</c:f>
              <c:numCache>
                <c:formatCode>General</c:formatCode>
                <c:ptCount val="3"/>
                <c:pt idx="0">
                  <c:v>0.21</c:v>
                </c:pt>
                <c:pt idx="1">
                  <c:v>0.41</c:v>
                </c:pt>
                <c:pt idx="2">
                  <c:v>0.57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D5DD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1B1F2A"/>
                </a:solidFill>
                <a:latin typeface="+mn-lt"/>
              </a:defRPr>
            </a:pPr>
            <a:endParaRPr lang="en-US"/>
          </a:p>
        </c:txPr>
        <c:crossAx val="2094734554"/>
        <c:crosses val="autoZero"/>
        <c:crossBetween val="between"/>
        <c:majorUnit val="0.4"/>
      </c:valAx>
      <c:spPr>
        <a:noFill/>
        <a:ln>
          <a:noFill/>
        </a:ln>
        <a:effectLst/>
      </c:spPr>
    </c:plotArea>
    <c:legend>
      <c:legendPos val="b"/>
      <c:overlay val="0"/>
      <c:txPr>
        <a:bodyPr/>
        <a:lstStyle/>
        <a:p>
          <a:pPr>
            <a:defRPr sz="1300">
              <a:solidFill>
                <a:srgbClr val="1B1F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Member 1 (0:30). We decide how much power each car gets at a shared charging station, every 15 minutes. Our twist: the departure time the driver reports can be wrong or faked.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(1:30). Think of a workplace car park behind one transformer. Electricity is cheap at night and expensive in the afternoon. The system decides who charges now; it cannot see the future and only knows what drivers typed in. RL fits because decisions are sequential and exact optimisation needs the whole day in advance. Research question: what happens to a learned policy when reports are wrong, and can a driver cheat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(1:30). Safe and constrained RL for charging exists, but for single chargers or simulated cars. Departure uncertainty is treated as random noise. Ferragut showed that for simple rules a driver can gain by reporting early. To our search nobody checked whether a learned policy has the same weakness on real data. We do not claim a new RL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(2:00). Each day is one episode. At every step the agent sees the cars plugged in with remaining energy and the reported time left. It proposes a power fraction per port; a safety projection reduces the proposal so the total stays within the cap - a hard guarantee. Reward is the negative bill. Two extra costs have budgets: unmet energy, and a wear proxy because we have no battery data. Cars always leave at their true time, so an early report can cause unmet energy. Example of the projection: cap 20 kW, requests 12/10/8 kW, each cut by 3.33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(1:30). PPO is a standard stable method; the multipliers turn 'stay within budget' into a trade-off the policy learns. Deep Sets shares one small network across ports. Data are real charging sessions downloaded through the ACN API and verified against its totals. Price and grid cap are our assumptions because the data have neither. Be ready to say the warm start is not in the submitted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(1:00). Left to right: real sessions go through the report model, which makes the reported time truthful or misreported. The environment tracks ports, price and the grid limit. The agent proposes power, the projection enforces the cap, the applied power moves the environment forward and returns state and reward. Point at box 2 (our novelty) and box 5 (the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(1:00). The new part is not the algorithm but the question and the evaluation: can a driver game a learned policy? We measure it with paired replay. We also found that the submitted claim 'driver reports are rare' does not hold on the full data: 52% of Caltech and 94% of JPL sessions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(2:00). Under truthful reports the learned policy is not better than simple rules on cost; its strength is gentle charging at similar cost. With wrong reports it degrades more than the rules but far less than MPC. Main finding: it can be gamed - the gain is small in kWh but happens almost every time. A simple fix, stopping service at the declared departure, removes the incentive at the price of hurting honest early reports. Every number comes from a script and config: 5 seeds, 85 test days, 95% confidence intervals. Chart: normal grid cap (kappa 0.20), others truthful, 413 paired replays per point. Fails to transfer to JPL (28.6% unmet) -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(3:00). (2 min demo) Here is one real busy day. The learned policy and EDF both hit the 34.6 kW cap and never exceed it; the learned policy runs cars at lower power. Now a crowded day: three cars report one hour early; rules give extra energy to some, the learned policy to more. (1 min) The implementation is complete up to the first four experiments and is on GitHub. What remains is finishing the E4 variants, the projection ablation and the report. Fallback if the live run fails: screenshots of the demo table and docs/briefing/fig/demo_day.png.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SafeCharge-RL  |  Team 32  |  Amrita Vishwa Vidyapeetham</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SafeCharge-RL  |  Team 32  |  Amrita Vishwa Vidyapeetham</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circle large"/>
          <p:cNvSpPr/>
          <p:nvPr/>
        </p:nvSpPr>
        <p:spPr>
          <a:xfrm>
            <a:off x="7863840" y="-1097280"/>
            <a:ext cx="6583680" cy="6583680"/>
          </a:xfrm>
          <a:prstGeom prst="ellipse">
            <a:avLst/>
          </a:prstGeom>
          <a:solidFill>
            <a:schemeClr val="accent1">
              <a:alpha val="18000"/>
            </a:schemeClr>
          </a:solidFill>
          <a:ln w="12700">
            <a:solidFill>
              <a:schemeClr val="accent1">
                <a:alpha val="0"/>
              </a:schemeClr>
            </a:solidFill>
            <a:prstDash val="solid"/>
          </a:ln>
        </p:spPr>
      </p:sp>
      <p:sp>
        <p:nvSpPr>
          <p:cNvPr id="3" name="Motif circle small"/>
          <p:cNvSpPr/>
          <p:nvPr/>
        </p:nvSpPr>
        <p:spPr>
          <a:xfrm>
            <a:off x="9692640" y="3291840"/>
            <a:ext cx="3291840" cy="3291840"/>
          </a:xfrm>
          <a:prstGeom prst="ellipse">
            <a:avLst/>
          </a:prstGeom>
          <a:solidFill>
            <a:schemeClr val="accent2">
              <a:alpha val="20000"/>
            </a:schemeClr>
          </a:solidFill>
          <a:ln w="12700">
            <a:solidFill>
              <a:schemeClr val="accent2">
                <a:alpha val="0"/>
              </a:schemeClr>
            </a:solidFill>
            <a:prstDash val="solid"/>
          </a:ln>
        </p:spPr>
      </p:sp>
      <p:sp>
        <p:nvSpPr>
          <p:cNvPr id="4" name="Text 2"/>
          <p:cNvSpPr txBox="1"/>
          <p:nvPr/>
        </p:nvSpPr>
        <p:spPr>
          <a:xfrm>
            <a:off x="731520" y="822960"/>
            <a:ext cx="7315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MID-REVIEW  |  9-10 OCT 2026</a:t>
            </a:r>
            <a:endParaRPr lang="en-US" sz="1400" dirty="0"/>
          </a:p>
        </p:txBody>
      </p:sp>
      <p:sp>
        <p:nvSpPr>
          <p:cNvPr id="5" name="Text 3"/>
          <p:cNvSpPr txBox="1"/>
          <p:nvPr/>
        </p:nvSpPr>
        <p:spPr>
          <a:xfrm>
            <a:off x="731520" y="1463040"/>
            <a:ext cx="8229600" cy="100584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SafeCharge-RL</a:t>
            </a:r>
            <a:endParaRPr lang="en-US" sz="6000" dirty="0"/>
          </a:p>
        </p:txBody>
      </p:sp>
      <p:sp>
        <p:nvSpPr>
          <p:cNvPr id="6" name="Text 4"/>
          <p:cNvSpPr txBox="1"/>
          <p:nvPr/>
        </p:nvSpPr>
        <p:spPr>
          <a:xfrm>
            <a:off x="731520" y="2560320"/>
            <a:ext cx="7498080" cy="1097280"/>
          </a:xfrm>
          <a:prstGeom prst="rect">
            <a:avLst/>
          </a:prstGeom>
          <a:noFill/>
          <a:ln/>
        </p:spPr>
        <p:txBody>
          <a:bodyPr wrap="square" lIns="0" tIns="0" rIns="0" bIns="0" rtlCol="0" anchor="t"/>
          <a:lstStyle/>
          <a:p>
            <a:pPr indent="0" marL="0">
              <a:buNone/>
            </a:pPr>
            <a:r>
              <a:rPr lang="en-US" sz="2400" dirty="0">
                <a:solidFill>
                  <a:schemeClr val="bg2"/>
                </a:solidFill>
              </a:rPr>
              <a:t>Reinforcement Learning for EV Smart Charging when departure times cannot be trusted</a:t>
            </a:r>
            <a:endParaRPr lang="en-US" sz="2400" dirty="0"/>
          </a:p>
        </p:txBody>
      </p:sp>
      <p:sp>
        <p:nvSpPr>
          <p:cNvPr id="7" name="Text 5"/>
          <p:cNvSpPr txBox="1"/>
          <p:nvPr/>
        </p:nvSpPr>
        <p:spPr>
          <a:xfrm>
            <a:off x="731520" y="3840480"/>
            <a:ext cx="7315200" cy="457200"/>
          </a:xfrm>
          <a:prstGeom prst="rect">
            <a:avLst/>
          </a:prstGeom>
          <a:noFill/>
          <a:ln/>
        </p:spPr>
        <p:txBody>
          <a:bodyPr wrap="square" lIns="0" tIns="0" rIns="0" bIns="0" rtlCol="0" anchor="t"/>
          <a:lstStyle/>
          <a:p>
            <a:pPr indent="0" marL="0">
              <a:buNone/>
            </a:pPr>
            <a:r>
              <a:rPr lang="en-US" sz="1600" i="1" dirty="0">
                <a:solidFill>
                  <a:schemeClr val="accent2"/>
                </a:solidFill>
              </a:rPr>
              <a:t>RL problem area: constrained reinforcement learning for sequential decision-making</a:t>
            </a:r>
            <a:endParaRPr lang="en-US" sz="1600" dirty="0"/>
          </a:p>
        </p:txBody>
      </p:sp>
      <p:sp>
        <p:nvSpPr>
          <p:cNvPr id="8" name="Text 6"/>
          <p:cNvSpPr txBox="1"/>
          <p:nvPr/>
        </p:nvSpPr>
        <p:spPr>
          <a:xfrm>
            <a:off x="731520" y="4846320"/>
            <a:ext cx="10058400" cy="118872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Team 32</a:t>
            </a:r>
            <a:endParaRPr lang="en-US" sz="1600" dirty="0"/>
          </a:p>
          <a:p>
            <a:pPr indent="0" marL="0">
              <a:spcAft>
                <a:spcPts val="400"/>
              </a:spcAft>
              <a:buNone/>
            </a:pPr>
            <a:r>
              <a:rPr lang="en-US" sz="1600" dirty="0">
                <a:solidFill>
                  <a:schemeClr val="bg1"/>
                </a:solidFill>
              </a:rPr>
              <a:t>Adithyan R   |   Adithya Rajesh   |   Balu M Krishna</a:t>
            </a:r>
            <a:endParaRPr lang="en-US" sz="1600" dirty="0"/>
          </a:p>
          <a:p>
            <a:pPr indent="0" marL="0">
              <a:spcAft>
                <a:spcPts val="400"/>
              </a:spcAft>
              <a:buNone/>
            </a:pPr>
            <a:r>
              <a:rPr lang="en-US" sz="1600" dirty="0">
                <a:solidFill>
                  <a:schemeClr val="bg1"/>
                </a:solidFill>
              </a:rPr>
              <a:t>Guide: Dr. Geetha M, Department of CSE (AI), Amrita Vishwa Vidyapeetham</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The Problem: Who Gets Power, and When?</a:t>
            </a:r>
            <a:endParaRPr lang="en-US" sz="3400" dirty="0"/>
          </a:p>
        </p:txBody>
      </p:sp>
      <p:sp>
        <p:nvSpPr>
          <p:cNvPr id="3" name="Text 1"/>
          <p:cNvSpPr txBox="1"/>
          <p:nvPr/>
        </p:nvSpPr>
        <p:spPr>
          <a:xfrm>
            <a:off x="548640" y="1417320"/>
            <a:ext cx="5852160" cy="35661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Many EVs share one transformer, so total power must stay under a grid limit</a:t>
            </a:r>
            <a:endParaRPr lang="en-US" sz="1800" dirty="0"/>
          </a:p>
          <a:p>
            <a:pPr marL="342900" indent="-342900">
              <a:spcAft>
                <a:spcPts val="800"/>
              </a:spcAft>
              <a:buSzPct val="100000"/>
              <a:buChar char="•"/>
            </a:pPr>
            <a:r>
              <a:rPr lang="en-US" sz="1800" dirty="0">
                <a:solidFill>
                  <a:schemeClr val="tx1"/>
                </a:solidFill>
              </a:rPr>
              <a:t>The scheduler only sees the departure time the driver reported</a:t>
            </a:r>
            <a:endParaRPr lang="en-US" sz="1800" dirty="0"/>
          </a:p>
          <a:p>
            <a:pPr marL="342900" indent="-342900">
              <a:spcAft>
                <a:spcPts val="800"/>
              </a:spcAft>
              <a:buSzPct val="100000"/>
              <a:buChar char="•"/>
            </a:pPr>
            <a:r>
              <a:rPr lang="en-US" sz="1800" dirty="0">
                <a:solidFill>
                  <a:schemeClr val="tx1"/>
                </a:solidFill>
              </a:rPr>
              <a:t>Reports are often wrong (about 3 h off) or could be faked to get served first</a:t>
            </a:r>
            <a:endParaRPr lang="en-US" sz="1800" dirty="0"/>
          </a:p>
          <a:p>
            <a:pPr marL="342900" indent="-342900">
              <a:spcAft>
                <a:spcPts val="800"/>
              </a:spcAft>
              <a:buSzPct val="100000"/>
              <a:buChar char="•"/>
            </a:pPr>
            <a:r>
              <a:rPr lang="en-US" sz="1800" dirty="0">
                <a:solidFill>
                  <a:schemeClr val="tx1"/>
                </a:solidFill>
              </a:rPr>
              <a:t>Why RL: the future is unknown and decisions are made step by step</a:t>
            </a:r>
            <a:endParaRPr lang="en-US" sz="1800" dirty="0"/>
          </a:p>
        </p:txBody>
      </p:sp>
      <p:sp>
        <p:nvSpPr>
          <p:cNvPr id="4" name="Goal card 1"/>
          <p:cNvSpPr/>
          <p:nvPr/>
        </p:nvSpPr>
        <p:spPr>
          <a:xfrm>
            <a:off x="6766560" y="1417320"/>
            <a:ext cx="4846320" cy="1051560"/>
          </a:xfrm>
          <a:prstGeom prst="roundRect">
            <a:avLst>
              <a:gd name="adj" fmla="val 10435"/>
            </a:avLst>
          </a:prstGeom>
          <a:solidFill>
            <a:schemeClr val="bg2"/>
          </a:solidFill>
          <a:ln w="6350">
            <a:solidFill>
              <a:schemeClr val="bg2"/>
            </a:solidFill>
            <a:prstDash val="solid"/>
          </a:ln>
        </p:spPr>
      </p:sp>
      <p:sp>
        <p:nvSpPr>
          <p:cNvPr id="5" name="Shape 3"/>
          <p:cNvSpPr/>
          <p:nvPr/>
        </p:nvSpPr>
        <p:spPr>
          <a:xfrm>
            <a:off x="6995160" y="1719072"/>
            <a:ext cx="457200" cy="457200"/>
          </a:xfrm>
          <a:prstGeom prst="ellipse">
            <a:avLst/>
          </a:prstGeom>
          <a:solidFill>
            <a:schemeClr val="accent1"/>
          </a:solidFill>
          <a:ln w="6350">
            <a:solidFill>
              <a:schemeClr val="accent1"/>
            </a:solidFill>
            <a:prstDash val="solid"/>
          </a:ln>
        </p:spPr>
      </p:sp>
      <p:sp>
        <p:nvSpPr>
          <p:cNvPr id="6" name="Text 4"/>
          <p:cNvSpPr txBox="1"/>
          <p:nvPr/>
        </p:nvSpPr>
        <p:spPr>
          <a:xfrm>
            <a:off x="6995160" y="17190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7680960" y="1572768"/>
            <a:ext cx="3749040" cy="365760"/>
          </a:xfrm>
          <a:prstGeom prst="rect">
            <a:avLst/>
          </a:prstGeom>
          <a:noFill/>
          <a:ln/>
        </p:spPr>
        <p:txBody>
          <a:bodyPr wrap="square" lIns="0" tIns="0" rIns="0" bIns="0" rtlCol="0" anchor="t"/>
          <a:lstStyle/>
          <a:p>
            <a:pPr indent="0" marL="0">
              <a:buNone/>
            </a:pPr>
            <a:r>
              <a:rPr lang="en-US" sz="1800" b="1" dirty="0">
                <a:solidFill>
                  <a:schemeClr val="tx2"/>
                </a:solidFill>
              </a:rPr>
              <a:t>Cost</a:t>
            </a:r>
            <a:endParaRPr lang="en-US" sz="1800" dirty="0"/>
          </a:p>
        </p:txBody>
      </p:sp>
      <p:sp>
        <p:nvSpPr>
          <p:cNvPr id="8" name="Text 6"/>
          <p:cNvSpPr txBox="1"/>
          <p:nvPr/>
        </p:nvSpPr>
        <p:spPr>
          <a:xfrm>
            <a:off x="7680960" y="1984248"/>
            <a:ext cx="3749040" cy="365760"/>
          </a:xfrm>
          <a:prstGeom prst="rect">
            <a:avLst/>
          </a:prstGeom>
          <a:noFill/>
          <a:ln/>
        </p:spPr>
        <p:txBody>
          <a:bodyPr wrap="square" lIns="0" tIns="0" rIns="0" bIns="0" rtlCol="0" anchor="t"/>
          <a:lstStyle/>
          <a:p>
            <a:pPr indent="0" marL="0">
              <a:buNone/>
            </a:pPr>
            <a:r>
              <a:rPr lang="en-US" sz="1500" dirty="0">
                <a:solidFill>
                  <a:schemeClr val="tx1"/>
                </a:solidFill>
              </a:rPr>
              <a:t>Prices change by the hour</a:t>
            </a:r>
            <a:endParaRPr lang="en-US" sz="1500" dirty="0"/>
          </a:p>
        </p:txBody>
      </p:sp>
      <p:sp>
        <p:nvSpPr>
          <p:cNvPr id="9" name="Goal card 2"/>
          <p:cNvSpPr/>
          <p:nvPr/>
        </p:nvSpPr>
        <p:spPr>
          <a:xfrm>
            <a:off x="6766560" y="2606040"/>
            <a:ext cx="4846320" cy="1051560"/>
          </a:xfrm>
          <a:prstGeom prst="roundRect">
            <a:avLst>
              <a:gd name="adj" fmla="val 10435"/>
            </a:avLst>
          </a:prstGeom>
          <a:solidFill>
            <a:schemeClr val="bg2"/>
          </a:solidFill>
          <a:ln w="6350">
            <a:solidFill>
              <a:schemeClr val="bg2"/>
            </a:solidFill>
            <a:prstDash val="solid"/>
          </a:ln>
        </p:spPr>
      </p:sp>
      <p:sp>
        <p:nvSpPr>
          <p:cNvPr id="10" name="Shape 8"/>
          <p:cNvSpPr/>
          <p:nvPr/>
        </p:nvSpPr>
        <p:spPr>
          <a:xfrm>
            <a:off x="6995160" y="2907792"/>
            <a:ext cx="457200" cy="457200"/>
          </a:xfrm>
          <a:prstGeom prst="ellipse">
            <a:avLst/>
          </a:prstGeom>
          <a:solidFill>
            <a:schemeClr val="accent1"/>
          </a:solidFill>
          <a:ln w="6350">
            <a:solidFill>
              <a:schemeClr val="accent1"/>
            </a:solidFill>
            <a:prstDash val="solid"/>
          </a:ln>
        </p:spPr>
      </p:sp>
      <p:sp>
        <p:nvSpPr>
          <p:cNvPr id="11" name="Text 9"/>
          <p:cNvSpPr txBox="1"/>
          <p:nvPr/>
        </p:nvSpPr>
        <p:spPr>
          <a:xfrm>
            <a:off x="6995160" y="29077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7680960" y="2761488"/>
            <a:ext cx="3749040" cy="365760"/>
          </a:xfrm>
          <a:prstGeom prst="rect">
            <a:avLst/>
          </a:prstGeom>
          <a:noFill/>
          <a:ln/>
        </p:spPr>
        <p:txBody>
          <a:bodyPr wrap="square" lIns="0" tIns="0" rIns="0" bIns="0" rtlCol="0" anchor="t"/>
          <a:lstStyle/>
          <a:p>
            <a:pPr indent="0" marL="0">
              <a:buNone/>
            </a:pPr>
            <a:r>
              <a:rPr lang="en-US" sz="1800" b="1" dirty="0">
                <a:solidFill>
                  <a:schemeClr val="tx2"/>
                </a:solidFill>
              </a:rPr>
              <a:t>Deadlines</a:t>
            </a:r>
            <a:endParaRPr lang="en-US" sz="1800" dirty="0"/>
          </a:p>
        </p:txBody>
      </p:sp>
      <p:sp>
        <p:nvSpPr>
          <p:cNvPr id="13" name="Text 11"/>
          <p:cNvSpPr txBox="1"/>
          <p:nvPr/>
        </p:nvSpPr>
        <p:spPr>
          <a:xfrm>
            <a:off x="7680960" y="3172968"/>
            <a:ext cx="3749040" cy="365760"/>
          </a:xfrm>
          <a:prstGeom prst="rect">
            <a:avLst/>
          </a:prstGeom>
          <a:noFill/>
          <a:ln/>
        </p:spPr>
        <p:txBody>
          <a:bodyPr wrap="square" lIns="0" tIns="0" rIns="0" bIns="0" rtlCol="0" anchor="t"/>
          <a:lstStyle/>
          <a:p>
            <a:pPr indent="0" marL="0">
              <a:buNone/>
            </a:pPr>
            <a:r>
              <a:rPr lang="en-US" sz="1500" dirty="0">
                <a:solidFill>
                  <a:schemeClr val="tx1"/>
                </a:solidFill>
              </a:rPr>
              <a:t>Cars must be charged before they leave</a:t>
            </a:r>
            <a:endParaRPr lang="en-US" sz="1500" dirty="0"/>
          </a:p>
        </p:txBody>
      </p:sp>
      <p:sp>
        <p:nvSpPr>
          <p:cNvPr id="14" name="Goal card 3"/>
          <p:cNvSpPr/>
          <p:nvPr/>
        </p:nvSpPr>
        <p:spPr>
          <a:xfrm>
            <a:off x="6766560" y="3794760"/>
            <a:ext cx="4846320" cy="1051560"/>
          </a:xfrm>
          <a:prstGeom prst="roundRect">
            <a:avLst>
              <a:gd name="adj" fmla="val 10435"/>
            </a:avLst>
          </a:prstGeom>
          <a:solidFill>
            <a:schemeClr val="bg2"/>
          </a:solidFill>
          <a:ln w="6350">
            <a:solidFill>
              <a:schemeClr val="bg2"/>
            </a:solidFill>
            <a:prstDash val="solid"/>
          </a:ln>
        </p:spPr>
      </p:sp>
      <p:sp>
        <p:nvSpPr>
          <p:cNvPr id="15" name="Shape 13"/>
          <p:cNvSpPr/>
          <p:nvPr/>
        </p:nvSpPr>
        <p:spPr>
          <a:xfrm>
            <a:off x="6995160" y="4096512"/>
            <a:ext cx="457200" cy="457200"/>
          </a:xfrm>
          <a:prstGeom prst="ellipse">
            <a:avLst/>
          </a:prstGeom>
          <a:solidFill>
            <a:schemeClr val="accent1"/>
          </a:solidFill>
          <a:ln w="6350">
            <a:solidFill>
              <a:schemeClr val="accent1"/>
            </a:solidFill>
            <a:prstDash val="solid"/>
          </a:ln>
        </p:spPr>
      </p:sp>
      <p:sp>
        <p:nvSpPr>
          <p:cNvPr id="16" name="Text 14"/>
          <p:cNvSpPr txBox="1"/>
          <p:nvPr/>
        </p:nvSpPr>
        <p:spPr>
          <a:xfrm>
            <a:off x="6995160" y="4096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7680960" y="3950208"/>
            <a:ext cx="3749040" cy="365760"/>
          </a:xfrm>
          <a:prstGeom prst="rect">
            <a:avLst/>
          </a:prstGeom>
          <a:noFill/>
          <a:ln/>
        </p:spPr>
        <p:txBody>
          <a:bodyPr wrap="square" lIns="0" tIns="0" rIns="0" bIns="0" rtlCol="0" anchor="t"/>
          <a:lstStyle/>
          <a:p>
            <a:pPr indent="0" marL="0">
              <a:buNone/>
            </a:pPr>
            <a:r>
              <a:rPr lang="en-US" sz="1800" b="1" dirty="0">
                <a:solidFill>
                  <a:schemeClr val="tx2"/>
                </a:solidFill>
              </a:rPr>
              <a:t>Battery wear</a:t>
            </a:r>
            <a:endParaRPr lang="en-US" sz="1800" dirty="0"/>
          </a:p>
        </p:txBody>
      </p:sp>
      <p:sp>
        <p:nvSpPr>
          <p:cNvPr id="18" name="Text 16"/>
          <p:cNvSpPr txBox="1"/>
          <p:nvPr/>
        </p:nvSpPr>
        <p:spPr>
          <a:xfrm>
            <a:off x="7680960" y="4361688"/>
            <a:ext cx="3749040" cy="365760"/>
          </a:xfrm>
          <a:prstGeom prst="rect">
            <a:avLst/>
          </a:prstGeom>
          <a:noFill/>
          <a:ln/>
        </p:spPr>
        <p:txBody>
          <a:bodyPr wrap="square" lIns="0" tIns="0" rIns="0" bIns="0" rtlCol="0" anchor="t"/>
          <a:lstStyle/>
          <a:p>
            <a:pPr indent="0" marL="0">
              <a:buNone/>
            </a:pPr>
            <a:r>
              <a:rPr lang="en-US" sz="1500" dirty="0">
                <a:solidFill>
                  <a:schemeClr val="tx1"/>
                </a:solidFill>
              </a:rPr>
              <a:t>High power ages the battery</a:t>
            </a:r>
            <a:endParaRPr lang="en-US" sz="1500" dirty="0"/>
          </a:p>
        </p:txBody>
      </p:sp>
      <p:sp>
        <p:nvSpPr>
          <p:cNvPr id="19" name="Problem statement band"/>
          <p:cNvSpPr/>
          <p:nvPr/>
        </p:nvSpPr>
        <p:spPr>
          <a:xfrm>
            <a:off x="548640" y="5257800"/>
            <a:ext cx="11064240" cy="914400"/>
          </a:xfrm>
          <a:prstGeom prst="roundRect">
            <a:avLst>
              <a:gd name="adj" fmla="val 12000"/>
            </a:avLst>
          </a:prstGeom>
          <a:solidFill>
            <a:schemeClr val="tx2"/>
          </a:solidFill>
          <a:ln w="6350">
            <a:solidFill>
              <a:schemeClr val="tx2"/>
            </a:solidFill>
            <a:prstDash val="solid"/>
          </a:ln>
        </p:spPr>
      </p:sp>
      <p:sp>
        <p:nvSpPr>
          <p:cNvPr id="20" name="Text 18"/>
          <p:cNvSpPr txBox="1"/>
          <p:nvPr/>
        </p:nvSpPr>
        <p:spPr>
          <a:xfrm>
            <a:off x="822960" y="5257800"/>
            <a:ext cx="10515600" cy="914400"/>
          </a:xfrm>
          <a:prstGeom prst="rect">
            <a:avLst/>
          </a:prstGeom>
          <a:noFill/>
          <a:ln/>
        </p:spPr>
        <p:txBody>
          <a:bodyPr wrap="square" lIns="0" tIns="0" rIns="0" bIns="0" rtlCol="0" anchor="ctr"/>
          <a:lstStyle/>
          <a:p>
            <a:pPr indent="0" marL="0">
              <a:buNone/>
            </a:pPr>
            <a:r>
              <a:rPr lang="en-US" sz="1700" b="1" dirty="0">
                <a:solidFill>
                  <a:schemeClr val="accent2"/>
                </a:solidFill>
              </a:rPr>
              <a:t>Problem statement: </a:t>
            </a:r>
            <a:pPr indent="0" marL="0">
              <a:buNone/>
            </a:pPr>
            <a:r>
              <a:rPr lang="en-US" sz="1700" dirty="0">
                <a:solidFill>
                  <a:schemeClr val="bg1"/>
                </a:solidFill>
              </a:rPr>
              <a:t>learn a charging policy that never exceeds the grid cap, serves every car, keeps cost low, and holds up when reported departure times are wrong.</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Existing Work and Our Gap</a:t>
            </a:r>
            <a:endParaRPr lang="en-US" sz="3400" dirty="0"/>
          </a:p>
        </p:txBody>
      </p:sp>
      <p:graphicFrame>
        <p:nvGraphicFramePr>
          <p:cNvPr id="4" name="Literature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297680"/>
                <a:gridCol w="4023360"/>
              </a:tblGrid>
              <a:tr h="566928">
                <a:tc>
                  <a:txBody>
                    <a:bodyPr/>
                    <a:lstStyle/>
                    <a:p>
                      <a:pPr indent="0" marL="0">
                        <a:buNone/>
                      </a:pPr>
                      <a:r>
                        <a:rPr lang="en-US" sz="1700" b="1" dirty="0">
                          <a:solidFill>
                            <a:schemeClr val="bg1"/>
                          </a:solidFill>
                        </a:rPr>
                        <a:t>Work</a:t>
                      </a:r>
                      <a:endParaRPr lang="en-US" sz="17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What it does</a:t>
                      </a:r>
                      <a:endParaRPr lang="en-US" sz="17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Limitation</a:t>
                      </a:r>
                      <a:endParaRPr lang="en-US" sz="17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tx2"/>
                    </a:solidFill>
                  </a:tcPr>
                </a:tc>
              </a:tr>
              <a:tr h="566928">
                <a:tc>
                  <a:txBody>
                    <a:bodyPr/>
                    <a:lstStyle/>
                    <a:p>
                      <a:pPr indent="0" marL="0">
                        <a:buNone/>
                      </a:pPr>
                      <a:r>
                        <a:rPr lang="en-US" sz="1600" b="1" dirty="0">
                          <a:solidFill>
                            <a:schemeClr val="tx1"/>
                          </a:solidFill>
                        </a:rPr>
                        <a:t>Li, Wan, He (2020)</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Safe RL for EV charging</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One charger, no shared grid cap</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Chen, Shi (2022)</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Lagrangian + SAC</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One EV, synthetic data</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Ting et al. (2024)</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Station limit, early departures</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Simulated EVs, noise only</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Li, Sun (2023)</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Real Caltech data; user times unreliable</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Tiny station, not about misreporting</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Ferragut et al. (2021)</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Reporting early gets more service</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Rule-based policies only</a:t>
                      </a:r>
                      <a:endParaRPr lang="en-US" sz="1600" dirty="0"/>
                    </a:p>
                  </a:txBody>
                  <a:tcPr marL="109728" marR="109728" marT="36576" marB="36576"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chemeClr val="bg1"/>
                    </a:solidFill>
                  </a:tcPr>
                </a:tc>
              </a:tr>
            </a:tbl>
          </a:graphicData>
        </a:graphic>
      </p:graphicFrame>
      <p:sp>
        <p:nvSpPr>
          <p:cNvPr id="4" name="Difference band"/>
          <p:cNvSpPr/>
          <p:nvPr/>
        </p:nvSpPr>
        <p:spPr>
          <a:xfrm>
            <a:off x="548640" y="5029200"/>
            <a:ext cx="11064240" cy="1188720"/>
          </a:xfrm>
          <a:prstGeom prst="roundRect">
            <a:avLst>
              <a:gd name="adj" fmla="val 9231"/>
            </a:avLst>
          </a:prstGeom>
          <a:solidFill>
            <a:schemeClr val="accent1"/>
          </a:solidFill>
          <a:ln w="6350">
            <a:solidFill>
              <a:schemeClr val="accent1"/>
            </a:solidFill>
            <a:prstDash val="solid"/>
          </a:ln>
        </p:spPr>
      </p:sp>
      <p:sp>
        <p:nvSpPr>
          <p:cNvPr id="5" name="Text 2"/>
          <p:cNvSpPr txBox="1"/>
          <p:nvPr/>
        </p:nvSpPr>
        <p:spPr>
          <a:xfrm>
            <a:off x="822960" y="5029200"/>
            <a:ext cx="10515600" cy="1188720"/>
          </a:xfrm>
          <a:prstGeom prst="rect">
            <a:avLst/>
          </a:prstGeom>
          <a:noFill/>
          <a:ln/>
        </p:spPr>
        <p:txBody>
          <a:bodyPr wrap="square" lIns="0" tIns="0" rIns="0" bIns="0" rtlCol="0" anchor="ctr"/>
          <a:lstStyle/>
          <a:p>
            <a:pPr indent="0" marL="0">
              <a:spcAft>
                <a:spcPts val="400"/>
              </a:spcAft>
              <a:buNone/>
            </a:pPr>
            <a:r>
              <a:rPr lang="en-US" sz="2000" b="1" dirty="0">
                <a:solidFill>
                  <a:schemeClr val="bg1"/>
                </a:solidFill>
              </a:rPr>
              <a:t>Our difference</a:t>
            </a:r>
            <a:endParaRPr lang="en-US" sz="2000" dirty="0"/>
          </a:p>
          <a:p>
            <a:pPr indent="0" marL="0">
              <a:spcAft>
                <a:spcPts val="400"/>
              </a:spcAft>
              <a:buNone/>
            </a:pPr>
            <a:r>
              <a:rPr lang="en-US" sz="1700" dirty="0">
                <a:solidFill>
                  <a:schemeClr val="bg1"/>
                </a:solidFill>
              </a:rPr>
              <a:t>A learned policy that drivers can game, tested on real sessions with a shared hard grid cap, against rules and a hindsight-optimal schedule.</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MDP Design</a:t>
            </a:r>
            <a:endParaRPr lang="en-US" sz="3400" dirty="0"/>
          </a:p>
        </p:txBody>
      </p:sp>
      <p:graphicFrame>
        <p:nvGraphicFramePr>
          <p:cNvPr id="5" name="MDP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8869680"/>
              </a:tblGrid>
              <a:tr h="640080">
                <a:tc>
                  <a:txBody>
                    <a:bodyPr/>
                    <a:lstStyle/>
                    <a:p>
                      <a:pPr indent="0" marL="0">
                        <a:buNone/>
                      </a:pPr>
                      <a:r>
                        <a:rPr lang="en-US" sz="1700" b="1" dirty="0">
                          <a:solidFill>
                            <a:schemeClr val="bg1"/>
                          </a:solidFill>
                        </a:rPr>
                        <a:t>Agent</a:t>
                      </a:r>
                      <a:endParaRPr lang="en-US" sz="17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600" dirty="0">
                          <a:solidFill>
                            <a:schemeClr val="tx1"/>
                          </a:solidFill>
                        </a:rPr>
                        <a:t>The charging controller of the station</a:t>
                      </a:r>
                      <a:endParaRPr lang="en-US" sz="16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640080">
                <a:tc>
                  <a:txBody>
                    <a:bodyPr/>
                    <a:lstStyle/>
                    <a:p>
                      <a:pPr indent="0" marL="0">
                        <a:buNone/>
                      </a:pPr>
                      <a:r>
                        <a:rPr lang="en-US" sz="1700" b="1" dirty="0">
                          <a:solidFill>
                            <a:schemeClr val="bg1"/>
                          </a:solidFill>
                        </a:rPr>
                        <a:t>Environment</a:t>
                      </a:r>
                      <a:endParaRPr lang="en-US" sz="17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1600" dirty="0">
                          <a:solidFill>
                            <a:schemeClr val="tx1"/>
                          </a:solidFill>
                        </a:rPr>
                        <a:t>Simulator replaying real charging days, built by us</a:t>
                      </a:r>
                      <a:endParaRPr lang="en-US" sz="16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640080">
                <a:tc>
                  <a:txBody>
                    <a:bodyPr/>
                    <a:lstStyle/>
                    <a:p>
                      <a:pPr indent="0" marL="0">
                        <a:buNone/>
                      </a:pPr>
                      <a:r>
                        <a:rPr lang="en-US" sz="1700" b="1" dirty="0">
                          <a:solidFill>
                            <a:schemeClr val="bg1"/>
                          </a:solidFill>
                        </a:rPr>
                        <a:t>State</a:t>
                      </a:r>
                      <a:endParaRPr lang="en-US" sz="17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600" dirty="0">
                          <a:solidFill>
                            <a:schemeClr val="tx1"/>
                          </a:solidFill>
                        </a:rPr>
                        <a:t>Per port: energy left, reported time left, laxity. Global: price, time of day, last power</a:t>
                      </a:r>
                      <a:endParaRPr lang="en-US" sz="16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640080">
                <a:tc>
                  <a:txBody>
                    <a:bodyPr/>
                    <a:lstStyle/>
                    <a:p>
                      <a:pPr indent="0" marL="0">
                        <a:buNone/>
                      </a:pPr>
                      <a:r>
                        <a:rPr lang="en-US" sz="1700" b="1" dirty="0">
                          <a:solidFill>
                            <a:schemeClr val="bg1"/>
                          </a:solidFill>
                        </a:rPr>
                        <a:t>Action</a:t>
                      </a:r>
                      <a:endParaRPr lang="en-US" sz="17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1600" dirty="0">
                          <a:solidFill>
                            <a:schemeClr val="tx1"/>
                          </a:solidFill>
                        </a:rPr>
                        <a:t>A fraction (0 to 1) of max power per port, then a safety cut to the grid cap</a:t>
                      </a:r>
                      <a:endParaRPr lang="en-US" sz="16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640080">
                <a:tc>
                  <a:txBody>
                    <a:bodyPr/>
                    <a:lstStyle/>
                    <a:p>
                      <a:pPr indent="0" marL="0">
                        <a:buNone/>
                      </a:pPr>
                      <a:r>
                        <a:rPr lang="en-US" sz="1700" b="1" dirty="0">
                          <a:solidFill>
                            <a:schemeClr val="bg1"/>
                          </a:solidFill>
                        </a:rPr>
                        <a:t>Reward</a:t>
                      </a:r>
                      <a:endParaRPr lang="en-US" sz="17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600" dirty="0">
                          <a:solidFill>
                            <a:schemeClr val="tx1"/>
                          </a:solidFill>
                        </a:rPr>
                        <a:t>Minus electricity cost</a:t>
                      </a:r>
                      <a:endParaRPr lang="en-US" sz="16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640080">
                <a:tc>
                  <a:txBody>
                    <a:bodyPr/>
                    <a:lstStyle/>
                    <a:p>
                      <a:pPr indent="0" marL="0">
                        <a:buNone/>
                      </a:pPr>
                      <a:r>
                        <a:rPr lang="en-US" sz="1700" b="1" dirty="0">
                          <a:solidFill>
                            <a:schemeClr val="bg1"/>
                          </a:solidFill>
                        </a:rPr>
                        <a:t>Costs</a:t>
                      </a:r>
                      <a:endParaRPr lang="en-US" sz="17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1600" dirty="0">
                          <a:solidFill>
                            <a:schemeClr val="tx1"/>
                          </a:solidFill>
                        </a:rPr>
                        <a:t>Unmet energy at departure (budget 2%), battery-wear proxy (ports above 80% power)</a:t>
                      </a:r>
                      <a:endParaRPr lang="en-US" sz="16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640080">
                <a:tc>
                  <a:txBody>
                    <a:bodyPr/>
                    <a:lstStyle/>
                    <a:p>
                      <a:pPr indent="0" marL="0">
                        <a:buNone/>
                      </a:pPr>
                      <a:r>
                        <a:rPr lang="en-US" sz="1700" b="1" dirty="0">
                          <a:solidFill>
                            <a:schemeClr val="bg1"/>
                          </a:solidFill>
                        </a:rPr>
                        <a:t>Episode</a:t>
                      </a:r>
                      <a:endParaRPr lang="en-US" sz="17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600" dirty="0">
                          <a:solidFill>
                            <a:schemeClr val="tx1"/>
                          </a:solidFill>
                        </a:rPr>
                        <a:t>One weekday = 96 steps of 15 min. The true departure is never shown</a:t>
                      </a:r>
                      <a:endParaRPr lang="en-US" sz="1600" dirty="0"/>
                    </a:p>
                  </a:txBody>
                  <a:tcPr marL="137160" marR="13716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200" i="1" dirty="0">
                <a:solidFill>
                  <a:schemeClr val="accent5"/>
                </a:solidFill>
              </a:rPr>
              <a:t>Laxity = time left until the reported departure minus the time needed at full power.</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RL Algorithm and Data</a:t>
            </a:r>
            <a:endParaRPr lang="en-US" sz="3400" dirty="0"/>
          </a:p>
        </p:txBody>
      </p:sp>
      <p:sp>
        <p:nvSpPr>
          <p:cNvPr id="3" name="Algorithm card"/>
          <p:cNvSpPr/>
          <p:nvPr/>
        </p:nvSpPr>
        <p:spPr>
          <a:xfrm>
            <a:off x="548640" y="1371600"/>
            <a:ext cx="5394960" cy="1417320"/>
          </a:xfrm>
          <a:prstGeom prst="roundRect">
            <a:avLst>
              <a:gd name="adj" fmla="val 7742"/>
            </a:avLst>
          </a:prstGeom>
          <a:solidFill>
            <a:schemeClr val="bg2"/>
          </a:solidFill>
          <a:ln w="6350">
            <a:solidFill>
              <a:schemeClr val="bg2"/>
            </a:solidFill>
            <a:prstDash val="solid"/>
          </a:ln>
        </p:spPr>
      </p:sp>
      <p:sp>
        <p:nvSpPr>
          <p:cNvPr id="4" name="Text 2"/>
          <p:cNvSpPr txBox="1"/>
          <p:nvPr/>
        </p:nvSpPr>
        <p:spPr>
          <a:xfrm>
            <a:off x="777240" y="1481328"/>
            <a:ext cx="4937760" cy="365760"/>
          </a:xfrm>
          <a:prstGeom prst="rect">
            <a:avLst/>
          </a:prstGeom>
          <a:noFill/>
          <a:ln/>
        </p:spPr>
        <p:txBody>
          <a:bodyPr wrap="square" lIns="0" tIns="0" rIns="0" bIns="0" rtlCol="0" anchor="t"/>
          <a:lstStyle/>
          <a:p>
            <a:pPr indent="0" marL="0">
              <a:buNone/>
            </a:pPr>
            <a:r>
              <a:rPr lang="en-US" sz="1900" b="1" dirty="0">
                <a:solidFill>
                  <a:schemeClr val="tx2"/>
                </a:solidFill>
              </a:rPr>
              <a:t>PPO-Lagrangian</a:t>
            </a:r>
            <a:endParaRPr lang="en-US" sz="1900" dirty="0"/>
          </a:p>
        </p:txBody>
      </p:sp>
      <p:sp>
        <p:nvSpPr>
          <p:cNvPr id="5" name="Text 3"/>
          <p:cNvSpPr txBox="1"/>
          <p:nvPr/>
        </p:nvSpPr>
        <p:spPr>
          <a:xfrm>
            <a:off x="777240" y="1920240"/>
            <a:ext cx="4937760" cy="777240"/>
          </a:xfrm>
          <a:prstGeom prst="rect">
            <a:avLst/>
          </a:prstGeom>
          <a:noFill/>
          <a:ln/>
        </p:spPr>
        <p:txBody>
          <a:bodyPr wrap="square" lIns="0" tIns="0" rIns="0" bIns="0" rtlCol="0" anchor="t"/>
          <a:lstStyle/>
          <a:p>
            <a:pPr indent="0" marL="0">
              <a:buNone/>
            </a:pPr>
            <a:r>
              <a:rPr lang="en-US" sz="1600" dirty="0">
                <a:solidFill>
                  <a:schemeClr val="tx1"/>
                </a:solidFill>
              </a:rPr>
              <a:t>PPO plus one multiplier per cost. A multiplier rises when its budget is broken.</a:t>
            </a:r>
            <a:endParaRPr lang="en-US" sz="1600" dirty="0"/>
          </a:p>
        </p:txBody>
      </p:sp>
      <p:sp>
        <p:nvSpPr>
          <p:cNvPr id="6" name="Network card"/>
          <p:cNvSpPr/>
          <p:nvPr/>
        </p:nvSpPr>
        <p:spPr>
          <a:xfrm>
            <a:off x="548640" y="2926080"/>
            <a:ext cx="5394960" cy="1417320"/>
          </a:xfrm>
          <a:prstGeom prst="roundRect">
            <a:avLst>
              <a:gd name="adj" fmla="val 7742"/>
            </a:avLst>
          </a:prstGeom>
          <a:solidFill>
            <a:schemeClr val="bg2"/>
          </a:solidFill>
          <a:ln w="6350">
            <a:solidFill>
              <a:schemeClr val="bg2"/>
            </a:solidFill>
            <a:prstDash val="solid"/>
          </a:ln>
        </p:spPr>
      </p:sp>
      <p:sp>
        <p:nvSpPr>
          <p:cNvPr id="7" name="Text 5"/>
          <p:cNvSpPr txBox="1"/>
          <p:nvPr/>
        </p:nvSpPr>
        <p:spPr>
          <a:xfrm>
            <a:off x="777240" y="3035808"/>
            <a:ext cx="4937760" cy="365760"/>
          </a:xfrm>
          <a:prstGeom prst="rect">
            <a:avLst/>
          </a:prstGeom>
          <a:noFill/>
          <a:ln/>
        </p:spPr>
        <p:txBody>
          <a:bodyPr wrap="square" lIns="0" tIns="0" rIns="0" bIns="0" rtlCol="0" anchor="t"/>
          <a:lstStyle/>
          <a:p>
            <a:pPr indent="0" marL="0">
              <a:buNone/>
            </a:pPr>
            <a:r>
              <a:rPr lang="en-US" sz="1900" b="1" dirty="0">
                <a:solidFill>
                  <a:schemeClr val="tx2"/>
                </a:solidFill>
              </a:rPr>
              <a:t>Deep Sets network</a:t>
            </a:r>
            <a:endParaRPr lang="en-US" sz="1900" dirty="0"/>
          </a:p>
        </p:txBody>
      </p:sp>
      <p:sp>
        <p:nvSpPr>
          <p:cNvPr id="8" name="Text 6"/>
          <p:cNvSpPr txBox="1"/>
          <p:nvPr/>
        </p:nvSpPr>
        <p:spPr>
          <a:xfrm>
            <a:off x="777240" y="3474720"/>
            <a:ext cx="4937760" cy="777240"/>
          </a:xfrm>
          <a:prstGeom prst="rect">
            <a:avLst/>
          </a:prstGeom>
          <a:noFill/>
          <a:ln/>
        </p:spPr>
        <p:txBody>
          <a:bodyPr wrap="square" lIns="0" tIns="0" rIns="0" bIns="0" rtlCol="0" anchor="t"/>
          <a:lstStyle/>
          <a:p>
            <a:pPr indent="0" marL="0">
              <a:buNone/>
            </a:pPr>
            <a:r>
              <a:rPr lang="en-US" sz="1600" dirty="0">
                <a:solidFill>
                  <a:schemeClr val="tx1"/>
                </a:solidFill>
              </a:rPr>
              <a:t>One shared encoder per port, so it handles any number of cars in any order.</a:t>
            </a:r>
            <a:endParaRPr lang="en-US" sz="1600" dirty="0"/>
          </a:p>
        </p:txBody>
      </p:sp>
      <p:sp>
        <p:nvSpPr>
          <p:cNvPr id="9" name="Data card"/>
          <p:cNvSpPr/>
          <p:nvPr/>
        </p:nvSpPr>
        <p:spPr>
          <a:xfrm>
            <a:off x="6217920" y="1371600"/>
            <a:ext cx="5394960" cy="2971800"/>
          </a:xfrm>
          <a:prstGeom prst="roundRect">
            <a:avLst>
              <a:gd name="adj" fmla="val 3692"/>
            </a:avLst>
          </a:prstGeom>
          <a:solidFill>
            <a:schemeClr val="bg2"/>
          </a:solidFill>
          <a:ln w="6350">
            <a:solidFill>
              <a:schemeClr val="bg2"/>
            </a:solidFill>
            <a:prstDash val="solid"/>
          </a:ln>
        </p:spPr>
      </p:sp>
      <p:sp>
        <p:nvSpPr>
          <p:cNvPr id="10" name="Text 8"/>
          <p:cNvSpPr txBox="1"/>
          <p:nvPr/>
        </p:nvSpPr>
        <p:spPr>
          <a:xfrm>
            <a:off x="6446520" y="1481328"/>
            <a:ext cx="4937760" cy="365760"/>
          </a:xfrm>
          <a:prstGeom prst="rect">
            <a:avLst/>
          </a:prstGeom>
          <a:noFill/>
          <a:ln/>
        </p:spPr>
        <p:txBody>
          <a:bodyPr wrap="square" lIns="0" tIns="0" rIns="0" bIns="0" rtlCol="0" anchor="t"/>
          <a:lstStyle/>
          <a:p>
            <a:pPr indent="0" marL="0">
              <a:buNone/>
            </a:pPr>
            <a:r>
              <a:rPr lang="en-US" sz="1900" b="1" dirty="0">
                <a:solidFill>
                  <a:schemeClr val="tx2"/>
                </a:solidFill>
              </a:rPr>
              <a:t>Real ACN-Data</a:t>
            </a:r>
            <a:endParaRPr lang="en-US" sz="1900" dirty="0"/>
          </a:p>
        </p:txBody>
      </p:sp>
      <p:sp>
        <p:nvSpPr>
          <p:cNvPr id="11" name="Text 9"/>
          <p:cNvSpPr txBox="1"/>
          <p:nvPr/>
        </p:nvSpPr>
        <p:spPr>
          <a:xfrm>
            <a:off x="6446520" y="1965960"/>
            <a:ext cx="498348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Caltech 31,424 and JPL 33,638 charging sessions</a:t>
            </a:r>
            <a:endParaRPr lang="en-US" sz="1600" dirty="0"/>
          </a:p>
          <a:p>
            <a:pPr marL="342900" indent="-342900">
              <a:spcAft>
                <a:spcPts val="800"/>
              </a:spcAft>
              <a:buSzPct val="100000"/>
              <a:buChar char="•"/>
            </a:pPr>
            <a:r>
              <a:rPr lang="en-US" sz="1600" dirty="0">
                <a:solidFill>
                  <a:schemeClr val="tx1"/>
                </a:solidFill>
              </a:rPr>
              <a:t>One day = 96 steps of 15 minutes</a:t>
            </a:r>
            <a:endParaRPr lang="en-US" sz="1600" dirty="0"/>
          </a:p>
          <a:p>
            <a:pPr marL="342900" indent="-342900">
              <a:spcAft>
                <a:spcPts val="800"/>
              </a:spcAft>
              <a:buSzPct val="100000"/>
              <a:buChar char="•"/>
            </a:pPr>
            <a:r>
              <a:rPr lang="en-US" sz="1600" dirty="0">
                <a:solidFill>
                  <a:schemeClr val="tx1"/>
                </a:solidFill>
              </a:rPr>
              <a:t>Our assumptions: summer time-of-use tariff, grid cap = 20% of the typical peak</a:t>
            </a:r>
            <a:endParaRPr lang="en-US" sz="1600" dirty="0"/>
          </a:p>
        </p:txBody>
      </p:sp>
      <p:sp>
        <p:nvSpPr>
          <p:cNvPr id="12" name="Text 10"/>
          <p:cNvSpPr txBox="1"/>
          <p:nvPr/>
        </p:nvSpPr>
        <p:spPr>
          <a:xfrm>
            <a:off x="548640" y="4572000"/>
            <a:ext cx="7315200" cy="320040"/>
          </a:xfrm>
          <a:prstGeom prst="rect">
            <a:avLst/>
          </a:prstGeom>
          <a:noFill/>
          <a:ln/>
        </p:spPr>
        <p:txBody>
          <a:bodyPr wrap="square" lIns="0" tIns="0" rIns="0" bIns="0" rtlCol="0" anchor="t"/>
          <a:lstStyle/>
          <a:p>
            <a:pPr indent="0" marL="0">
              <a:buNone/>
            </a:pPr>
            <a:r>
              <a:rPr lang="en-US" sz="1500" b="1" dirty="0">
                <a:solidFill>
                  <a:schemeClr val="tx2"/>
                </a:solidFill>
              </a:rPr>
              <a:t>Chronological split (Caltech, weekdays)</a:t>
            </a:r>
            <a:endParaRPr lang="en-US" sz="1500" dirty="0"/>
          </a:p>
        </p:txBody>
      </p:sp>
      <p:sp>
        <p:nvSpPr>
          <p:cNvPr id="13" name="Split Train: Jan-Aug 2019 (174 days)"/>
          <p:cNvSpPr/>
          <p:nvPr/>
        </p:nvSpPr>
        <p:spPr>
          <a:xfrm>
            <a:off x="548640" y="4983480"/>
            <a:ext cx="6317146" cy="731520"/>
          </a:xfrm>
          <a:prstGeom prst="rect">
            <a:avLst/>
          </a:prstGeom>
          <a:solidFill>
            <a:schemeClr val="tx2"/>
          </a:solidFill>
          <a:ln w="6350">
            <a:solidFill>
              <a:schemeClr val="tx2"/>
            </a:solidFill>
            <a:prstDash val="solid"/>
          </a:ln>
        </p:spPr>
      </p:sp>
      <p:sp>
        <p:nvSpPr>
          <p:cNvPr id="14" name="Text 12"/>
          <p:cNvSpPr txBox="1"/>
          <p:nvPr/>
        </p:nvSpPr>
        <p:spPr>
          <a:xfrm>
            <a:off x="548640" y="4983480"/>
            <a:ext cx="6317146" cy="731520"/>
          </a:xfrm>
          <a:prstGeom prst="rect">
            <a:avLst/>
          </a:prstGeom>
          <a:noFill/>
          <a:ln/>
        </p:spPr>
        <p:txBody>
          <a:bodyPr wrap="square" lIns="0" tIns="0" rIns="0" bIns="0" rtlCol="0" anchor="ctr"/>
          <a:lstStyle/>
          <a:p>
            <a:pPr algn="ctr" indent="0" marL="0">
              <a:buNone/>
            </a:pPr>
            <a:r>
              <a:rPr lang="en-US" sz="1400" b="1" dirty="0">
                <a:solidFill>
                  <a:schemeClr val="bg1"/>
                </a:solidFill>
              </a:rPr>
              <a:t>Train: Jan-Aug 2019 (174 days)</a:t>
            </a:r>
            <a:endParaRPr lang="en-US" sz="1400" dirty="0"/>
          </a:p>
        </p:txBody>
      </p:sp>
      <p:sp>
        <p:nvSpPr>
          <p:cNvPr id="15" name="Split Val"/>
          <p:cNvSpPr/>
          <p:nvPr/>
        </p:nvSpPr>
        <p:spPr>
          <a:xfrm>
            <a:off x="6902362" y="4983480"/>
            <a:ext cx="1570112" cy="731520"/>
          </a:xfrm>
          <a:prstGeom prst="rect">
            <a:avLst/>
          </a:prstGeom>
          <a:solidFill>
            <a:schemeClr val="accent5"/>
          </a:solidFill>
          <a:ln w="6350">
            <a:solidFill>
              <a:schemeClr val="accent5"/>
            </a:solidFill>
            <a:prstDash val="solid"/>
          </a:ln>
        </p:spPr>
      </p:sp>
      <p:sp>
        <p:nvSpPr>
          <p:cNvPr id="16" name="Text 14"/>
          <p:cNvSpPr txBox="1"/>
          <p:nvPr/>
        </p:nvSpPr>
        <p:spPr>
          <a:xfrm>
            <a:off x="6902362" y="4983480"/>
            <a:ext cx="1570112" cy="731520"/>
          </a:xfrm>
          <a:prstGeom prst="rect">
            <a:avLst/>
          </a:prstGeom>
          <a:noFill/>
          <a:ln/>
        </p:spPr>
        <p:txBody>
          <a:bodyPr wrap="square" lIns="0" tIns="0" rIns="0" bIns="0" rtlCol="0" anchor="ctr"/>
          <a:lstStyle/>
          <a:p>
            <a:pPr algn="ctr" indent="0" marL="0">
              <a:buNone/>
            </a:pPr>
            <a:r>
              <a:rPr lang="en-US" sz="1200" b="1" dirty="0">
                <a:solidFill>
                  <a:schemeClr val="bg1"/>
                </a:solidFill>
              </a:rPr>
              <a:t>Val 44 d</a:t>
            </a:r>
            <a:endParaRPr lang="en-US" sz="1200" dirty="0"/>
          </a:p>
        </p:txBody>
      </p:sp>
      <p:sp>
        <p:nvSpPr>
          <p:cNvPr id="17" name="Split Test: Nov 2019-Feb 2020 (85 days)"/>
          <p:cNvSpPr/>
          <p:nvPr/>
        </p:nvSpPr>
        <p:spPr>
          <a:xfrm>
            <a:off x="8509050" y="4983480"/>
            <a:ext cx="3067254" cy="731520"/>
          </a:xfrm>
          <a:prstGeom prst="rect">
            <a:avLst/>
          </a:prstGeom>
          <a:solidFill>
            <a:schemeClr val="accent1"/>
          </a:solidFill>
          <a:ln w="6350">
            <a:solidFill>
              <a:schemeClr val="accent1"/>
            </a:solidFill>
            <a:prstDash val="solid"/>
          </a:ln>
        </p:spPr>
      </p:sp>
      <p:sp>
        <p:nvSpPr>
          <p:cNvPr id="18" name="Text 16"/>
          <p:cNvSpPr txBox="1"/>
          <p:nvPr/>
        </p:nvSpPr>
        <p:spPr>
          <a:xfrm>
            <a:off x="8509050" y="4983480"/>
            <a:ext cx="3067254" cy="731520"/>
          </a:xfrm>
          <a:prstGeom prst="rect">
            <a:avLst/>
          </a:prstGeom>
          <a:noFill/>
          <a:ln/>
        </p:spPr>
        <p:txBody>
          <a:bodyPr wrap="square" lIns="0" tIns="0" rIns="0" bIns="0" rtlCol="0" anchor="ctr"/>
          <a:lstStyle/>
          <a:p>
            <a:pPr algn="ctr" indent="0" marL="0">
              <a:buNone/>
            </a:pPr>
            <a:r>
              <a:rPr lang="en-US" sz="1400" b="1" dirty="0">
                <a:solidFill>
                  <a:schemeClr val="bg1"/>
                </a:solidFill>
              </a:rPr>
              <a:t>Test: Nov 2019-Feb 2020 (85 days)</a:t>
            </a:r>
            <a:endParaRPr lang="en-US" sz="1400" dirty="0"/>
          </a:p>
        </p:txBody>
      </p:sp>
      <p:sp>
        <p:nvSpPr>
          <p:cNvPr id="19" name="Text 17"/>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300" i="1" dirty="0">
                <a:solidFill>
                  <a:schemeClr val="accent5"/>
                </a:solidFill>
              </a:rPr>
              <a:t>Honest note: a behaviour-cloning warm start from a rule-based scheduler was added because learning was too slow without it. It is not in the submitted design.</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System Design</a:t>
            </a:r>
            <a:endParaRPr lang="en-US" sz="3400" dirty="0"/>
          </a:p>
        </p:txBody>
      </p:sp>
      <p:pic>
        <p:nvPicPr>
          <p:cNvPr id="3" name="System design figure" descr="SafeCharge-RL system design: sessions, report model, environment, RL agent, safety projection, evaluation, with state, action, reward and cost arrows">    </p:cNvPr>
          <p:cNvPicPr>
            <a:picLocks noChangeAspect="1"/>
          </p:cNvPicPr>
          <p:nvPr/>
        </p:nvPicPr>
        <p:blipFill>
          <a:blip r:embed="rId1"/>
          <a:stretch>
            <a:fillRect/>
          </a:stretch>
        </p:blipFill>
        <p:spPr>
          <a:xfrm>
            <a:off x="1248156" y="1371600"/>
            <a:ext cx="9692640" cy="4574779"/>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Novel Components</a:t>
            </a:r>
            <a:endParaRPr lang="en-US" sz="3400" dirty="0"/>
          </a:p>
        </p:txBody>
      </p:sp>
      <p:sp>
        <p:nvSpPr>
          <p:cNvPr id="3" name="Novel card 1"/>
          <p:cNvSpPr/>
          <p:nvPr/>
        </p:nvSpPr>
        <p:spPr>
          <a:xfrm>
            <a:off x="548640" y="1371600"/>
            <a:ext cx="3566160" cy="2194560"/>
          </a:xfrm>
          <a:prstGeom prst="roundRect">
            <a:avLst>
              <a:gd name="adj" fmla="val 5000"/>
            </a:avLst>
          </a:prstGeom>
          <a:solidFill>
            <a:schemeClr val="bg2"/>
          </a:solidFill>
          <a:ln w="6350">
            <a:solidFill>
              <a:schemeClr val="bg2"/>
            </a:solidFill>
            <a:prstDash val="solid"/>
          </a:ln>
        </p:spPr>
      </p:sp>
      <p:sp>
        <p:nvSpPr>
          <p:cNvPr id="4" name="Shape 2"/>
          <p:cNvSpPr/>
          <p:nvPr/>
        </p:nvSpPr>
        <p:spPr>
          <a:xfrm>
            <a:off x="777240" y="1600200"/>
            <a:ext cx="502920" cy="502920"/>
          </a:xfrm>
          <a:prstGeom prst="ellipse">
            <a:avLst/>
          </a:prstGeom>
          <a:solidFill>
            <a:schemeClr val="accent2"/>
          </a:solidFill>
          <a:ln w="6350">
            <a:solidFill>
              <a:schemeClr val="accent2"/>
            </a:solidFill>
            <a:prstDash val="solid"/>
          </a:ln>
        </p:spPr>
      </p:sp>
      <p:sp>
        <p:nvSpPr>
          <p:cNvPr id="5" name="Text 3"/>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77240" y="2240280"/>
            <a:ext cx="3108960" cy="365760"/>
          </a:xfrm>
          <a:prstGeom prst="rect">
            <a:avLst/>
          </a:prstGeom>
          <a:noFill/>
          <a:ln/>
        </p:spPr>
        <p:txBody>
          <a:bodyPr wrap="square" lIns="0" tIns="0" rIns="0" bIns="0" rtlCol="0" anchor="t"/>
          <a:lstStyle/>
          <a:p>
            <a:pPr indent="0" marL="0">
              <a:buNone/>
            </a:pPr>
            <a:r>
              <a:rPr lang="en-US" sz="1800" b="1" dirty="0">
                <a:solidFill>
                  <a:schemeClr val="tx2"/>
                </a:solidFill>
              </a:rPr>
              <a:t>Manipulable reports</a:t>
            </a:r>
            <a:endParaRPr lang="en-US" sz="1800" dirty="0"/>
          </a:p>
        </p:txBody>
      </p:sp>
      <p:sp>
        <p:nvSpPr>
          <p:cNvPr id="7" name="Text 5"/>
          <p:cNvSpPr txBox="1"/>
          <p:nvPr/>
        </p:nvSpPr>
        <p:spPr>
          <a:xfrm>
            <a:off x="777240" y="2651760"/>
            <a:ext cx="3108960" cy="822960"/>
          </a:xfrm>
          <a:prstGeom prst="rect">
            <a:avLst/>
          </a:prstGeom>
          <a:noFill/>
          <a:ln/>
        </p:spPr>
        <p:txBody>
          <a:bodyPr wrap="square" lIns="0" tIns="0" rIns="0" bIns="0" rtlCol="0" anchor="t"/>
          <a:lstStyle/>
          <a:p>
            <a:pPr indent="0" marL="0">
              <a:buNone/>
            </a:pPr>
            <a:r>
              <a:rPr lang="en-US" sz="1500" dirty="0">
                <a:solidFill>
                  <a:schemeClr val="tx1"/>
                </a:solidFill>
              </a:rPr>
              <a:t>Reported departure treated as something a driver can game, on real data</a:t>
            </a:r>
            <a:endParaRPr lang="en-US" sz="1500" dirty="0"/>
          </a:p>
        </p:txBody>
      </p:sp>
      <p:sp>
        <p:nvSpPr>
          <p:cNvPr id="8" name="Novel card 2"/>
          <p:cNvSpPr/>
          <p:nvPr/>
        </p:nvSpPr>
        <p:spPr>
          <a:xfrm>
            <a:off x="4297680" y="1371600"/>
            <a:ext cx="3566160" cy="2194560"/>
          </a:xfrm>
          <a:prstGeom prst="roundRect">
            <a:avLst>
              <a:gd name="adj" fmla="val 5000"/>
            </a:avLst>
          </a:prstGeom>
          <a:solidFill>
            <a:schemeClr val="bg2"/>
          </a:solidFill>
          <a:ln w="6350">
            <a:solidFill>
              <a:schemeClr val="bg2"/>
            </a:solidFill>
            <a:prstDash val="solid"/>
          </a:ln>
        </p:spPr>
      </p:sp>
      <p:sp>
        <p:nvSpPr>
          <p:cNvPr id="9" name="Shape 7"/>
          <p:cNvSpPr/>
          <p:nvPr/>
        </p:nvSpPr>
        <p:spPr>
          <a:xfrm>
            <a:off x="4526280" y="1600200"/>
            <a:ext cx="502920" cy="502920"/>
          </a:xfrm>
          <a:prstGeom prst="ellipse">
            <a:avLst/>
          </a:prstGeom>
          <a:solidFill>
            <a:schemeClr val="accent2"/>
          </a:solidFill>
          <a:ln w="6350">
            <a:solidFill>
              <a:schemeClr val="accent2"/>
            </a:solidFill>
            <a:prstDash val="solid"/>
          </a:ln>
        </p:spPr>
      </p:sp>
      <p:sp>
        <p:nvSpPr>
          <p:cNvPr id="10" name="Text 8"/>
          <p:cNvSpPr txBox="1"/>
          <p:nvPr/>
        </p:nvSpPr>
        <p:spPr>
          <a:xfrm>
            <a:off x="452628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4526280" y="2240280"/>
            <a:ext cx="3108960" cy="365760"/>
          </a:xfrm>
          <a:prstGeom prst="rect">
            <a:avLst/>
          </a:prstGeom>
          <a:noFill/>
          <a:ln/>
        </p:spPr>
        <p:txBody>
          <a:bodyPr wrap="square" lIns="0" tIns="0" rIns="0" bIns="0" rtlCol="0" anchor="t"/>
          <a:lstStyle/>
          <a:p>
            <a:pPr indent="0" marL="0">
              <a:buNone/>
            </a:pPr>
            <a:r>
              <a:rPr lang="en-US" sz="1800" b="1" dirty="0">
                <a:solidFill>
                  <a:schemeClr val="tx2"/>
                </a:solidFill>
              </a:rPr>
              <a:t>Paired replay</a:t>
            </a:r>
            <a:endParaRPr lang="en-US" sz="1800" dirty="0"/>
          </a:p>
        </p:txBody>
      </p:sp>
      <p:sp>
        <p:nvSpPr>
          <p:cNvPr id="12" name="Text 10"/>
          <p:cNvSpPr txBox="1"/>
          <p:nvPr/>
        </p:nvSpPr>
        <p:spPr>
          <a:xfrm>
            <a:off x="4526280" y="2651760"/>
            <a:ext cx="3108960" cy="822960"/>
          </a:xfrm>
          <a:prstGeom prst="rect">
            <a:avLst/>
          </a:prstGeom>
          <a:noFill/>
          <a:ln/>
        </p:spPr>
        <p:txBody>
          <a:bodyPr wrap="square" lIns="0" tIns="0" rIns="0" bIns="0" rtlCol="0" anchor="t"/>
          <a:lstStyle/>
          <a:p>
            <a:pPr indent="0" marL="0">
              <a:buNone/>
            </a:pPr>
            <a:r>
              <a:rPr lang="en-US" sz="1500" dirty="0">
                <a:solidFill>
                  <a:schemeClr val="tx1"/>
                </a:solidFill>
              </a:rPr>
              <a:t>A measure of how much extra energy lying earns</a:t>
            </a:r>
            <a:endParaRPr lang="en-US" sz="1500" dirty="0"/>
          </a:p>
        </p:txBody>
      </p:sp>
      <p:sp>
        <p:nvSpPr>
          <p:cNvPr id="13" name="Novel card 3"/>
          <p:cNvSpPr/>
          <p:nvPr/>
        </p:nvSpPr>
        <p:spPr>
          <a:xfrm>
            <a:off x="8046720" y="1371600"/>
            <a:ext cx="3566160" cy="2194560"/>
          </a:xfrm>
          <a:prstGeom prst="roundRect">
            <a:avLst>
              <a:gd name="adj" fmla="val 5000"/>
            </a:avLst>
          </a:prstGeom>
          <a:solidFill>
            <a:schemeClr val="bg2"/>
          </a:solidFill>
          <a:ln w="6350">
            <a:solidFill>
              <a:schemeClr val="bg2"/>
            </a:solidFill>
            <a:prstDash val="solid"/>
          </a:ln>
        </p:spPr>
      </p:sp>
      <p:sp>
        <p:nvSpPr>
          <p:cNvPr id="14" name="Shape 12"/>
          <p:cNvSpPr/>
          <p:nvPr/>
        </p:nvSpPr>
        <p:spPr>
          <a:xfrm>
            <a:off x="8275320" y="1600200"/>
            <a:ext cx="502920" cy="502920"/>
          </a:xfrm>
          <a:prstGeom prst="ellipse">
            <a:avLst/>
          </a:prstGeom>
          <a:solidFill>
            <a:schemeClr val="accent1"/>
          </a:solidFill>
          <a:ln w="6350">
            <a:solidFill>
              <a:schemeClr val="accent1"/>
            </a:solidFill>
            <a:prstDash val="solid"/>
          </a:ln>
        </p:spPr>
      </p:sp>
      <p:sp>
        <p:nvSpPr>
          <p:cNvPr id="15" name="Text 13"/>
          <p:cNvSpPr txBox="1"/>
          <p:nvPr/>
        </p:nvSpPr>
        <p:spPr>
          <a:xfrm>
            <a:off x="827532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275320" y="2240280"/>
            <a:ext cx="3108960" cy="365760"/>
          </a:xfrm>
          <a:prstGeom prst="rect">
            <a:avLst/>
          </a:prstGeom>
          <a:noFill/>
          <a:ln/>
        </p:spPr>
        <p:txBody>
          <a:bodyPr wrap="square" lIns="0" tIns="0" rIns="0" bIns="0" rtlCol="0" anchor="t"/>
          <a:lstStyle/>
          <a:p>
            <a:pPr indent="0" marL="0">
              <a:buNone/>
            </a:pPr>
            <a:r>
              <a:rPr lang="en-US" sz="1800" b="1" dirty="0">
                <a:solidFill>
                  <a:schemeClr val="tx2"/>
                </a:solidFill>
              </a:rPr>
              <a:t>Hard safety layer</a:t>
            </a:r>
            <a:endParaRPr lang="en-US" sz="1800" dirty="0"/>
          </a:p>
        </p:txBody>
      </p:sp>
      <p:sp>
        <p:nvSpPr>
          <p:cNvPr id="17" name="Text 15"/>
          <p:cNvSpPr txBox="1"/>
          <p:nvPr/>
        </p:nvSpPr>
        <p:spPr>
          <a:xfrm>
            <a:off x="8275320" y="2651760"/>
            <a:ext cx="3108960" cy="822960"/>
          </a:xfrm>
          <a:prstGeom prst="rect">
            <a:avLst/>
          </a:prstGeom>
          <a:noFill/>
          <a:ln/>
        </p:spPr>
        <p:txBody>
          <a:bodyPr wrap="square" lIns="0" tIns="0" rIns="0" bIns="0" rtlCol="0" anchor="t"/>
          <a:lstStyle/>
          <a:p>
            <a:pPr indent="0" marL="0">
              <a:buNone/>
            </a:pPr>
            <a:r>
              <a:rPr lang="en-US" sz="1500" dirty="0">
                <a:solidFill>
                  <a:schemeClr val="tx1"/>
                </a:solidFill>
              </a:rPr>
              <a:t>Projection plus cost budgets for a shared station</a:t>
            </a:r>
            <a:endParaRPr lang="en-US" sz="1500" dirty="0"/>
          </a:p>
        </p:txBody>
      </p:sp>
      <p:sp>
        <p:nvSpPr>
          <p:cNvPr id="18" name="Novel card 4"/>
          <p:cNvSpPr/>
          <p:nvPr/>
        </p:nvSpPr>
        <p:spPr>
          <a:xfrm>
            <a:off x="548640" y="3794760"/>
            <a:ext cx="3566160" cy="2194560"/>
          </a:xfrm>
          <a:prstGeom prst="roundRect">
            <a:avLst>
              <a:gd name="adj" fmla="val 5000"/>
            </a:avLst>
          </a:prstGeom>
          <a:solidFill>
            <a:schemeClr val="bg2"/>
          </a:solidFill>
          <a:ln w="6350">
            <a:solidFill>
              <a:schemeClr val="bg2"/>
            </a:solidFill>
            <a:prstDash val="solid"/>
          </a:ln>
        </p:spPr>
      </p:sp>
      <p:sp>
        <p:nvSpPr>
          <p:cNvPr id="19" name="Shape 17"/>
          <p:cNvSpPr/>
          <p:nvPr/>
        </p:nvSpPr>
        <p:spPr>
          <a:xfrm>
            <a:off x="777240" y="4023360"/>
            <a:ext cx="502920" cy="502920"/>
          </a:xfrm>
          <a:prstGeom prst="ellipse">
            <a:avLst/>
          </a:prstGeom>
          <a:solidFill>
            <a:schemeClr val="accent1"/>
          </a:solidFill>
          <a:ln w="6350">
            <a:solidFill>
              <a:schemeClr val="accent1"/>
            </a:solidFill>
            <a:prstDash val="solid"/>
          </a:ln>
        </p:spPr>
      </p:sp>
      <p:sp>
        <p:nvSpPr>
          <p:cNvPr id="20" name="Text 18"/>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777240" y="4663440"/>
            <a:ext cx="3108960" cy="365760"/>
          </a:xfrm>
          <a:prstGeom prst="rect">
            <a:avLst/>
          </a:prstGeom>
          <a:noFill/>
          <a:ln/>
        </p:spPr>
        <p:txBody>
          <a:bodyPr wrap="square" lIns="0" tIns="0" rIns="0" bIns="0" rtlCol="0" anchor="t"/>
          <a:lstStyle/>
          <a:p>
            <a:pPr indent="0" marL="0">
              <a:buNone/>
            </a:pPr>
            <a:r>
              <a:rPr lang="en-US" sz="1800" b="1" dirty="0">
                <a:solidFill>
                  <a:schemeClr val="tx2"/>
                </a:solidFill>
              </a:rPr>
              <a:t>Hindsight optimum</a:t>
            </a:r>
            <a:endParaRPr lang="en-US" sz="1800" dirty="0"/>
          </a:p>
        </p:txBody>
      </p:sp>
      <p:sp>
        <p:nvSpPr>
          <p:cNvPr id="22" name="Text 20"/>
          <p:cNvSpPr txBox="1"/>
          <p:nvPr/>
        </p:nvSpPr>
        <p:spPr>
          <a:xfrm>
            <a:off x="777240" y="5074920"/>
            <a:ext cx="3108960" cy="822960"/>
          </a:xfrm>
          <a:prstGeom prst="rect">
            <a:avLst/>
          </a:prstGeom>
          <a:noFill/>
          <a:ln/>
        </p:spPr>
        <p:txBody>
          <a:bodyPr wrap="square" lIns="0" tIns="0" rIns="0" bIns="0" rtlCol="0" anchor="t"/>
          <a:lstStyle/>
          <a:p>
            <a:pPr indent="0" marL="0">
              <a:buNone/>
            </a:pPr>
            <a:r>
              <a:rPr lang="en-US" sz="1500" dirty="0">
                <a:solidFill>
                  <a:schemeClr val="tx1"/>
                </a:solidFill>
              </a:rPr>
              <a:t>Benchmark on real sessions; lower bound checked every day</a:t>
            </a:r>
            <a:endParaRPr lang="en-US" sz="1500" dirty="0"/>
          </a:p>
        </p:txBody>
      </p:sp>
      <p:sp>
        <p:nvSpPr>
          <p:cNvPr id="23" name="Novel card 5"/>
          <p:cNvSpPr/>
          <p:nvPr/>
        </p:nvSpPr>
        <p:spPr>
          <a:xfrm>
            <a:off x="4297680" y="3794760"/>
            <a:ext cx="3566160" cy="2194560"/>
          </a:xfrm>
          <a:prstGeom prst="roundRect">
            <a:avLst>
              <a:gd name="adj" fmla="val 5000"/>
            </a:avLst>
          </a:prstGeom>
          <a:solidFill>
            <a:schemeClr val="bg2"/>
          </a:solidFill>
          <a:ln w="6350">
            <a:solidFill>
              <a:schemeClr val="bg2"/>
            </a:solidFill>
            <a:prstDash val="solid"/>
          </a:ln>
        </p:spPr>
      </p:sp>
      <p:sp>
        <p:nvSpPr>
          <p:cNvPr id="24" name="Shape 22"/>
          <p:cNvSpPr/>
          <p:nvPr/>
        </p:nvSpPr>
        <p:spPr>
          <a:xfrm>
            <a:off x="4526280" y="4023360"/>
            <a:ext cx="502920" cy="502920"/>
          </a:xfrm>
          <a:prstGeom prst="ellipse">
            <a:avLst/>
          </a:prstGeom>
          <a:solidFill>
            <a:schemeClr val="accent1"/>
          </a:solidFill>
          <a:ln w="6350">
            <a:solidFill>
              <a:schemeClr val="accent1"/>
            </a:solidFill>
            <a:prstDash val="solid"/>
          </a:ln>
        </p:spPr>
      </p:sp>
      <p:sp>
        <p:nvSpPr>
          <p:cNvPr id="25" name="Text 23"/>
          <p:cNvSpPr txBox="1"/>
          <p:nvPr/>
        </p:nvSpPr>
        <p:spPr>
          <a:xfrm>
            <a:off x="4526280" y="4023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4526280" y="4663440"/>
            <a:ext cx="3108960" cy="365760"/>
          </a:xfrm>
          <a:prstGeom prst="rect">
            <a:avLst/>
          </a:prstGeom>
          <a:noFill/>
          <a:ln/>
        </p:spPr>
        <p:txBody>
          <a:bodyPr wrap="square" lIns="0" tIns="0" rIns="0" bIns="0" rtlCol="0" anchor="t"/>
          <a:lstStyle/>
          <a:p>
            <a:pPr indent="0" marL="0">
              <a:buNone/>
            </a:pPr>
            <a:r>
              <a:rPr lang="en-US" sz="1800" b="1" dirty="0">
                <a:solidFill>
                  <a:schemeClr val="tx2"/>
                </a:solidFill>
              </a:rPr>
              <a:t>Testing the fix</a:t>
            </a:r>
            <a:endParaRPr lang="en-US" sz="1800" dirty="0"/>
          </a:p>
        </p:txBody>
      </p:sp>
      <p:sp>
        <p:nvSpPr>
          <p:cNvPr id="27" name="Text 25"/>
          <p:cNvSpPr txBox="1"/>
          <p:nvPr/>
        </p:nvSpPr>
        <p:spPr>
          <a:xfrm>
            <a:off x="4526280" y="5074920"/>
            <a:ext cx="3108960" cy="822960"/>
          </a:xfrm>
          <a:prstGeom prst="rect">
            <a:avLst/>
          </a:prstGeom>
          <a:noFill/>
          <a:ln/>
        </p:spPr>
        <p:txBody>
          <a:bodyPr wrap="square" lIns="0" tIns="0" rIns="0" bIns="0" rtlCol="0" anchor="t"/>
          <a:lstStyle/>
          <a:p>
            <a:pPr indent="0" marL="0">
              <a:buNone/>
            </a:pPr>
            <a:r>
              <a:rPr lang="en-US" sz="1500" dirty="0">
                <a:solidFill>
                  <a:schemeClr val="tx1"/>
                </a:solidFill>
              </a:rPr>
              <a:t>Serve only until declared departure, tried on a learned policy</a:t>
            </a:r>
            <a:endParaRPr lang="en-US" sz="1500" dirty="0"/>
          </a:p>
        </p:txBody>
      </p:sp>
      <p:sp>
        <p:nvSpPr>
          <p:cNvPr id="28" name="Novel card 6"/>
          <p:cNvSpPr/>
          <p:nvPr/>
        </p:nvSpPr>
        <p:spPr>
          <a:xfrm>
            <a:off x="8046720" y="3794760"/>
            <a:ext cx="3566160" cy="2194560"/>
          </a:xfrm>
          <a:prstGeom prst="roundRect">
            <a:avLst>
              <a:gd name="adj" fmla="val 5000"/>
            </a:avLst>
          </a:prstGeom>
          <a:solidFill>
            <a:schemeClr val="bg2"/>
          </a:solidFill>
          <a:ln w="6350">
            <a:solidFill>
              <a:schemeClr val="bg2"/>
            </a:solidFill>
            <a:prstDash val="solid"/>
          </a:ln>
        </p:spPr>
      </p:sp>
      <p:sp>
        <p:nvSpPr>
          <p:cNvPr id="29" name="Shape 27"/>
          <p:cNvSpPr/>
          <p:nvPr/>
        </p:nvSpPr>
        <p:spPr>
          <a:xfrm>
            <a:off x="8275320" y="4023360"/>
            <a:ext cx="502920" cy="502920"/>
          </a:xfrm>
          <a:prstGeom prst="ellipse">
            <a:avLst/>
          </a:prstGeom>
          <a:solidFill>
            <a:schemeClr val="accent1"/>
          </a:solidFill>
          <a:ln w="6350">
            <a:solidFill>
              <a:schemeClr val="accent1"/>
            </a:solidFill>
            <a:prstDash val="solid"/>
          </a:ln>
        </p:spPr>
      </p:sp>
      <p:sp>
        <p:nvSpPr>
          <p:cNvPr id="30" name="Text 28"/>
          <p:cNvSpPr txBox="1"/>
          <p:nvPr/>
        </p:nvSpPr>
        <p:spPr>
          <a:xfrm>
            <a:off x="8275320" y="4023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275320" y="4663440"/>
            <a:ext cx="3108960" cy="365760"/>
          </a:xfrm>
          <a:prstGeom prst="rect">
            <a:avLst/>
          </a:prstGeom>
          <a:noFill/>
          <a:ln/>
        </p:spPr>
        <p:txBody>
          <a:bodyPr wrap="square" lIns="0" tIns="0" rIns="0" bIns="0" rtlCol="0" anchor="t"/>
          <a:lstStyle/>
          <a:p>
            <a:pPr indent="0" marL="0">
              <a:buNone/>
            </a:pPr>
            <a:r>
              <a:rPr lang="en-US" sz="1800" b="1" dirty="0">
                <a:solidFill>
                  <a:schemeClr val="tx2"/>
                </a:solidFill>
              </a:rPr>
              <a:t>Real report errors</a:t>
            </a:r>
            <a:endParaRPr lang="en-US" sz="1800" dirty="0"/>
          </a:p>
        </p:txBody>
      </p:sp>
      <p:sp>
        <p:nvSpPr>
          <p:cNvPr id="32" name="Text 30"/>
          <p:cNvSpPr txBox="1"/>
          <p:nvPr/>
        </p:nvSpPr>
        <p:spPr>
          <a:xfrm>
            <a:off x="8275320" y="5074920"/>
            <a:ext cx="3108960" cy="822960"/>
          </a:xfrm>
          <a:prstGeom prst="rect">
            <a:avLst/>
          </a:prstGeom>
          <a:noFill/>
          <a:ln/>
        </p:spPr>
        <p:txBody>
          <a:bodyPr wrap="square" lIns="0" tIns="0" rIns="0" bIns="0" rtlCol="0" anchor="t"/>
          <a:lstStyle/>
          <a:p>
            <a:pPr indent="0" marL="0">
              <a:buNone/>
            </a:pPr>
            <a:r>
              <a:rPr lang="en-US" sz="1500" dirty="0">
                <a:solidFill>
                  <a:schemeClr val="tx1"/>
                </a:solidFill>
              </a:rPr>
              <a:t>Recorded reports are common and 2-3 hours wrong</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Results So Far</a:t>
            </a:r>
            <a:endParaRPr lang="en-US" sz="3400" dirty="0"/>
          </a:p>
        </p:txBody>
      </p:sp>
      <p:graphicFrame>
        <p:nvGraphicFramePr>
          <p:cNvPr id="3" name="Misreporting gain chart" descr=""/>
          <p:cNvGraphicFramePr/>
          <p:nvPr/>
        </p:nvGraphicFramePr>
        <p:xfrm>
          <a:off x="548640" y="1371600"/>
          <a:ext cx="6675120" cy="4343400"/>
        </p:xfrm>
        <a:graphic xmlns:a="http://schemas.openxmlformats.org/drawingml/2006/main">
          <a:graphicData uri="http://schemas.openxmlformats.org/drawingml/2006/chart">
            <c:chart xmlns:c="http://schemas.openxmlformats.org/drawingml/2006/chart" r:id="rId1"/>
          </a:graphicData>
        </a:graphic>
      </p:graphicFrame>
      <p:sp>
        <p:nvSpPr>
          <p:cNvPr id="4" name="Stat card 1"/>
          <p:cNvSpPr/>
          <p:nvPr/>
        </p:nvSpPr>
        <p:spPr>
          <a:xfrm>
            <a:off x="7498080" y="1371600"/>
            <a:ext cx="4114800" cy="1371600"/>
          </a:xfrm>
          <a:prstGeom prst="roundRect">
            <a:avLst>
              <a:gd name="adj" fmla="val 8000"/>
            </a:avLst>
          </a:prstGeom>
          <a:solidFill>
            <a:schemeClr val="bg2"/>
          </a:solidFill>
          <a:ln w="6350">
            <a:solidFill>
              <a:schemeClr val="bg2"/>
            </a:solidFill>
            <a:prstDash val="solid"/>
          </a:ln>
        </p:spPr>
      </p:sp>
      <p:sp>
        <p:nvSpPr>
          <p:cNvPr id="5" name="Text 2"/>
          <p:cNvSpPr txBox="1"/>
          <p:nvPr/>
        </p:nvSpPr>
        <p:spPr>
          <a:xfrm>
            <a:off x="7635240" y="1463040"/>
            <a:ext cx="2011680" cy="11887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93-97%</a:t>
            </a:r>
            <a:endParaRPr lang="en-US" sz="3000" dirty="0"/>
          </a:p>
        </p:txBody>
      </p:sp>
      <p:sp>
        <p:nvSpPr>
          <p:cNvPr id="6" name="Text 3"/>
          <p:cNvSpPr txBox="1"/>
          <p:nvPr/>
        </p:nvSpPr>
        <p:spPr>
          <a:xfrm>
            <a:off x="9692640" y="1463040"/>
            <a:ext cx="1828800" cy="1188720"/>
          </a:xfrm>
          <a:prstGeom prst="rect">
            <a:avLst/>
          </a:prstGeom>
          <a:noFill/>
          <a:ln/>
        </p:spPr>
        <p:txBody>
          <a:bodyPr wrap="square" lIns="0" tIns="0" rIns="0" bIns="0" rtlCol="0" anchor="ctr"/>
          <a:lstStyle/>
          <a:p>
            <a:pPr indent="0" marL="0">
              <a:buNone/>
            </a:pPr>
            <a:r>
              <a:rPr lang="en-US" sz="1400" dirty="0">
                <a:solidFill>
                  <a:schemeClr val="tx1"/>
                </a:solidFill>
              </a:rPr>
              <a:t>of early reporters gain on the learned policy; rules: under 4%</a:t>
            </a:r>
            <a:endParaRPr lang="en-US" sz="1400" dirty="0"/>
          </a:p>
        </p:txBody>
      </p:sp>
      <p:sp>
        <p:nvSpPr>
          <p:cNvPr id="7" name="Stat card 2"/>
          <p:cNvSpPr/>
          <p:nvPr/>
        </p:nvSpPr>
        <p:spPr>
          <a:xfrm>
            <a:off x="7498080" y="2852928"/>
            <a:ext cx="4114800" cy="1371600"/>
          </a:xfrm>
          <a:prstGeom prst="roundRect">
            <a:avLst>
              <a:gd name="adj" fmla="val 8000"/>
            </a:avLst>
          </a:prstGeom>
          <a:solidFill>
            <a:schemeClr val="bg2"/>
          </a:solidFill>
          <a:ln w="6350">
            <a:solidFill>
              <a:schemeClr val="bg2"/>
            </a:solidFill>
            <a:prstDash val="solid"/>
          </a:ln>
        </p:spPr>
      </p:sp>
      <p:sp>
        <p:nvSpPr>
          <p:cNvPr id="8" name="Text 5"/>
          <p:cNvSpPr txBox="1"/>
          <p:nvPr/>
        </p:nvSpPr>
        <p:spPr>
          <a:xfrm>
            <a:off x="7635240" y="2944368"/>
            <a:ext cx="2011680" cy="118872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2.6x</a:t>
            </a:r>
            <a:endParaRPr lang="en-US" sz="3000" dirty="0"/>
          </a:p>
        </p:txBody>
      </p:sp>
      <p:sp>
        <p:nvSpPr>
          <p:cNvPr id="9" name="Text 6"/>
          <p:cNvSpPr txBox="1"/>
          <p:nvPr/>
        </p:nvSpPr>
        <p:spPr>
          <a:xfrm>
            <a:off x="9692640" y="2944368"/>
            <a:ext cx="1828800" cy="1188720"/>
          </a:xfrm>
          <a:prstGeom prst="rect">
            <a:avLst/>
          </a:prstGeom>
          <a:noFill/>
          <a:ln/>
        </p:spPr>
        <p:txBody>
          <a:bodyPr wrap="square" lIns="0" tIns="0" rIns="0" bIns="0" rtlCol="0" anchor="ctr"/>
          <a:lstStyle/>
          <a:p>
            <a:pPr indent="0" marL="0">
              <a:buNone/>
            </a:pPr>
            <a:r>
              <a:rPr lang="en-US" sz="1400" dirty="0">
                <a:solidFill>
                  <a:schemeClr val="tx1"/>
                </a:solidFill>
              </a:rPr>
              <a:t>more unmet energy with wrong reports (rules 1.2-1.6x, MPC 30x)</a:t>
            </a:r>
            <a:endParaRPr lang="en-US" sz="1400" dirty="0"/>
          </a:p>
        </p:txBody>
      </p:sp>
      <p:sp>
        <p:nvSpPr>
          <p:cNvPr id="10" name="Stat card 3"/>
          <p:cNvSpPr/>
          <p:nvPr/>
        </p:nvSpPr>
        <p:spPr>
          <a:xfrm>
            <a:off x="7498080" y="4334256"/>
            <a:ext cx="4114800" cy="1371600"/>
          </a:xfrm>
          <a:prstGeom prst="roundRect">
            <a:avLst>
              <a:gd name="adj" fmla="val 8000"/>
            </a:avLst>
          </a:prstGeom>
          <a:solidFill>
            <a:schemeClr val="bg2"/>
          </a:solidFill>
          <a:ln w="6350">
            <a:solidFill>
              <a:schemeClr val="bg2"/>
            </a:solidFill>
            <a:prstDash val="solid"/>
          </a:ln>
        </p:spPr>
      </p:sp>
      <p:sp>
        <p:nvSpPr>
          <p:cNvPr id="11" name="Text 8"/>
          <p:cNvSpPr txBox="1"/>
          <p:nvPr/>
        </p:nvSpPr>
        <p:spPr>
          <a:xfrm>
            <a:off x="7635240" y="4425696"/>
            <a:ext cx="2011680" cy="118872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0</a:t>
            </a:r>
            <a:endParaRPr lang="en-US" sz="3000" dirty="0"/>
          </a:p>
        </p:txBody>
      </p:sp>
      <p:sp>
        <p:nvSpPr>
          <p:cNvPr id="12" name="Text 9"/>
          <p:cNvSpPr txBox="1"/>
          <p:nvPr/>
        </p:nvSpPr>
        <p:spPr>
          <a:xfrm>
            <a:off x="9692640" y="4425696"/>
            <a:ext cx="1828800" cy="1188720"/>
          </a:xfrm>
          <a:prstGeom prst="rect">
            <a:avLst/>
          </a:prstGeom>
          <a:noFill/>
          <a:ln/>
        </p:spPr>
        <p:txBody>
          <a:bodyPr wrap="square" lIns="0" tIns="0" rIns="0" bIns="0" rtlCol="0" anchor="ctr"/>
          <a:lstStyle/>
          <a:p>
            <a:pPr indent="0" marL="0">
              <a:buNone/>
            </a:pPr>
            <a:r>
              <a:rPr lang="en-US" sz="1400" dirty="0">
                <a:solidFill>
                  <a:schemeClr val="tx1"/>
                </a:solidFill>
              </a:rPr>
              <a:t>grid-limit violations, for every method</a:t>
            </a:r>
            <a:endParaRPr lang="en-US" sz="1400" dirty="0"/>
          </a:p>
        </p:txBody>
      </p:sp>
      <p:sp>
        <p:nvSpPr>
          <p:cNvPr id="13" name="Text 10"/>
          <p:cNvSpPr txBox="1"/>
          <p:nvPr/>
        </p:nvSpPr>
        <p:spPr>
          <a:xfrm>
            <a:off x="548640" y="5806440"/>
            <a:ext cx="11064240" cy="502920"/>
          </a:xfrm>
          <a:prstGeom prst="rect">
            <a:avLst/>
          </a:prstGeom>
          <a:noFill/>
          <a:ln/>
        </p:spPr>
        <p:txBody>
          <a:bodyPr wrap="square" lIns="0" tIns="0" rIns="0" bIns="0" rtlCol="0" anchor="t"/>
          <a:lstStyle/>
          <a:p>
            <a:pPr indent="0" marL="0">
              <a:buNone/>
            </a:pPr>
            <a:r>
              <a:rPr lang="en-US" sz="1400" dirty="0">
                <a:solidFill>
                  <a:schemeClr val="tx1"/>
                </a:solidFill>
              </a:rPr>
              <a:t>Truthful reports: the learned policy ties EDF on cost and charges gently. Stopping service at the declared departure removes the gain.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Demo So Far and Next Plan</a:t>
            </a:r>
            <a:endParaRPr lang="en-US" sz="3400" dirty="0"/>
          </a:p>
        </p:txBody>
      </p:sp>
      <p:sp>
        <p:nvSpPr>
          <p:cNvPr id="3" name="Column Live demo"/>
          <p:cNvSpPr/>
          <p:nvPr/>
        </p:nvSpPr>
        <p:spPr>
          <a:xfrm>
            <a:off x="548640" y="1417320"/>
            <a:ext cx="3566160" cy="4663440"/>
          </a:xfrm>
          <a:prstGeom prst="roundRect">
            <a:avLst>
              <a:gd name="adj" fmla="val 3077"/>
            </a:avLst>
          </a:prstGeom>
          <a:solidFill>
            <a:schemeClr val="bg1">
              <a:alpha val="10000"/>
            </a:schemeClr>
          </a:solidFill>
          <a:ln w="9525">
            <a:solidFill>
              <a:schemeClr val="bg1">
                <a:alpha val="30000"/>
              </a:schemeClr>
            </a:solidFill>
            <a:prstDash val="solid"/>
          </a:ln>
        </p:spPr>
      </p:sp>
      <p:sp>
        <p:nvSpPr>
          <p:cNvPr id="4" name="Text 2"/>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200" b="1" dirty="0">
                <a:solidFill>
                  <a:schemeClr val="accent2"/>
                </a:solidFill>
              </a:rPr>
              <a:t>Live demo</a:t>
            </a:r>
            <a:endParaRPr lang="en-US" sz="2200" dirty="0"/>
          </a:p>
        </p:txBody>
      </p:sp>
      <p:sp>
        <p:nvSpPr>
          <p:cNvPr id="5" name="Text 3"/>
          <p:cNvSpPr txBox="1"/>
          <p:nvPr/>
        </p:nvSpPr>
        <p:spPr>
          <a:xfrm>
            <a:off x="822960" y="2286000"/>
            <a:ext cx="3063240"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Busy real test day: every method, no grid violation</a:t>
            </a:r>
            <a:endParaRPr lang="en-US" sz="1800" dirty="0"/>
          </a:p>
          <a:p>
            <a:pPr marL="342900" indent="-342900">
              <a:spcAft>
                <a:spcPts val="800"/>
              </a:spcAft>
              <a:buSzPct val="100000"/>
              <a:buChar char="•"/>
            </a:pPr>
            <a:r>
              <a:rPr lang="en-US" sz="1800" dirty="0">
                <a:solidFill>
                  <a:schemeClr val="bg1"/>
                </a:solidFill>
              </a:rPr>
              <a:t>Crowded day: report 1-2 h early and watch the gain</a:t>
            </a:r>
            <a:endParaRPr lang="en-US" sz="1800" dirty="0"/>
          </a:p>
        </p:txBody>
      </p:sp>
      <p:sp>
        <p:nvSpPr>
          <p:cNvPr id="6" name="Text 4"/>
          <p:cNvSpPr txBox="1"/>
          <p:nvPr/>
        </p:nvSpPr>
        <p:spPr>
          <a:xfrm>
            <a:off x="822960" y="5394960"/>
            <a:ext cx="3063240" cy="45720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python scripts/demo.py 58 --plot</a:t>
            </a:r>
            <a:endParaRPr lang="en-US" sz="1200" dirty="0"/>
          </a:p>
        </p:txBody>
      </p:sp>
      <p:sp>
        <p:nvSpPr>
          <p:cNvPr id="7" name="Column Done"/>
          <p:cNvSpPr/>
          <p:nvPr/>
        </p:nvSpPr>
        <p:spPr>
          <a:xfrm>
            <a:off x="4297680" y="1417320"/>
            <a:ext cx="3566160" cy="4663440"/>
          </a:xfrm>
          <a:prstGeom prst="roundRect">
            <a:avLst>
              <a:gd name="adj" fmla="val 3077"/>
            </a:avLst>
          </a:prstGeom>
          <a:solidFill>
            <a:schemeClr val="bg1">
              <a:alpha val="10000"/>
            </a:schemeClr>
          </a:solidFill>
          <a:ln w="9525">
            <a:solidFill>
              <a:schemeClr val="bg1">
                <a:alpha val="30000"/>
              </a:schemeClr>
            </a:solidFill>
            <a:prstDash val="solid"/>
          </a:ln>
        </p:spPr>
      </p:sp>
      <p:sp>
        <p:nvSpPr>
          <p:cNvPr id="8" name="Text 6"/>
          <p:cNvSpPr txBox="1"/>
          <p:nvPr/>
        </p:nvSpPr>
        <p:spPr>
          <a:xfrm>
            <a:off x="4572000" y="1645920"/>
            <a:ext cx="3017520" cy="457200"/>
          </a:xfrm>
          <a:prstGeom prst="rect">
            <a:avLst/>
          </a:prstGeom>
          <a:noFill/>
          <a:ln/>
        </p:spPr>
        <p:txBody>
          <a:bodyPr wrap="square" lIns="0" tIns="0" rIns="0" bIns="0" rtlCol="0" anchor="t"/>
          <a:lstStyle/>
          <a:p>
            <a:pPr indent="0" marL="0">
              <a:buNone/>
            </a:pPr>
            <a:r>
              <a:rPr lang="en-US" sz="2200" b="1" dirty="0">
                <a:solidFill>
                  <a:schemeClr val="accent1"/>
                </a:solidFill>
              </a:rPr>
              <a:t>Done</a:t>
            </a:r>
            <a:endParaRPr lang="en-US" sz="2200" dirty="0"/>
          </a:p>
        </p:txBody>
      </p:sp>
      <p:sp>
        <p:nvSpPr>
          <p:cNvPr id="9" name="Text 7"/>
          <p:cNvSpPr txBox="1"/>
          <p:nvPr/>
        </p:nvSpPr>
        <p:spPr>
          <a:xfrm>
            <a:off x="4572000" y="2286000"/>
            <a:ext cx="3063240"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Simulator and safety layer</a:t>
            </a:r>
            <a:endParaRPr lang="en-US" sz="1800" dirty="0"/>
          </a:p>
          <a:p>
            <a:pPr marL="342900" indent="-342900">
              <a:spcAft>
                <a:spcPts val="800"/>
              </a:spcAft>
              <a:buSzPct val="100000"/>
              <a:buChar char="•"/>
            </a:pPr>
            <a:r>
              <a:rPr lang="en-US" sz="1800" dirty="0">
                <a:solidFill>
                  <a:schemeClr val="bg1"/>
                </a:solidFill>
              </a:rPr>
              <a:t>Baselines, optimum, MPC</a:t>
            </a:r>
            <a:endParaRPr lang="en-US" sz="1800" dirty="0"/>
          </a:p>
          <a:p>
            <a:pPr marL="342900" indent="-342900">
              <a:spcAft>
                <a:spcPts val="800"/>
              </a:spcAft>
              <a:buSzPct val="100000"/>
              <a:buChar char="•"/>
            </a:pPr>
            <a:r>
              <a:rPr lang="en-US" sz="1800" dirty="0">
                <a:solidFill>
                  <a:schemeClr val="bg1"/>
                </a:solidFill>
              </a:rPr>
              <a:t>PPO-Lagrangian, 5 seeds</a:t>
            </a:r>
            <a:endParaRPr lang="en-US" sz="1800" dirty="0"/>
          </a:p>
          <a:p>
            <a:pPr marL="342900" indent="-342900">
              <a:spcAft>
                <a:spcPts val="800"/>
              </a:spcAft>
              <a:buSzPct val="100000"/>
              <a:buChar char="•"/>
            </a:pPr>
            <a:r>
              <a:rPr lang="en-US" sz="1800" dirty="0">
                <a:solidFill>
                  <a:schemeClr val="bg1"/>
                </a:solidFill>
              </a:rPr>
              <a:t>Experiments E1-E3, E6, part of E4</a:t>
            </a:r>
            <a:endParaRPr lang="en-US" sz="1800" dirty="0"/>
          </a:p>
          <a:p>
            <a:pPr marL="342900" indent="-342900">
              <a:spcAft>
                <a:spcPts val="800"/>
              </a:spcAft>
              <a:buSzPct val="100000"/>
              <a:buChar char="•"/>
            </a:pPr>
            <a:r>
              <a:rPr lang="en-US" sz="1800" dirty="0">
                <a:solidFill>
                  <a:schemeClr val="bg1"/>
                </a:solidFill>
              </a:rPr>
              <a:t>108 tests passing, code on GitHub</a:t>
            </a:r>
            <a:endParaRPr lang="en-US" sz="1800" dirty="0"/>
          </a:p>
        </p:txBody>
      </p:sp>
      <p:sp>
        <p:nvSpPr>
          <p:cNvPr id="10" name="Column Next"/>
          <p:cNvSpPr/>
          <p:nvPr/>
        </p:nvSpPr>
        <p:spPr>
          <a:xfrm>
            <a:off x="8046720" y="1417320"/>
            <a:ext cx="3566160" cy="4663440"/>
          </a:xfrm>
          <a:prstGeom prst="roundRect">
            <a:avLst>
              <a:gd name="adj" fmla="val 3077"/>
            </a:avLst>
          </a:prstGeom>
          <a:solidFill>
            <a:schemeClr val="bg1">
              <a:alpha val="10000"/>
            </a:schemeClr>
          </a:solidFill>
          <a:ln w="9525">
            <a:solidFill>
              <a:schemeClr val="bg1">
                <a:alpha val="30000"/>
              </a:schemeClr>
            </a:solidFill>
            <a:prstDash val="solid"/>
          </a:ln>
        </p:spPr>
      </p:sp>
      <p:sp>
        <p:nvSpPr>
          <p:cNvPr id="11" name="Text 9"/>
          <p:cNvSpPr txBox="1"/>
          <p:nvPr/>
        </p:nvSpPr>
        <p:spPr>
          <a:xfrm>
            <a:off x="8321040" y="1645920"/>
            <a:ext cx="3017520" cy="457200"/>
          </a:xfrm>
          <a:prstGeom prst="rect">
            <a:avLst/>
          </a:prstGeom>
          <a:noFill/>
          <a:ln/>
        </p:spPr>
        <p:txBody>
          <a:bodyPr wrap="square" lIns="0" tIns="0" rIns="0" bIns="0" rtlCol="0" anchor="t"/>
          <a:lstStyle/>
          <a:p>
            <a:pPr indent="0" marL="0">
              <a:buNone/>
            </a:pPr>
            <a:r>
              <a:rPr lang="en-US" sz="2200" b="1" dirty="0">
                <a:solidFill>
                  <a:schemeClr val="accent2"/>
                </a:solidFill>
              </a:rPr>
              <a:t>Next</a:t>
            </a:r>
            <a:endParaRPr lang="en-US" sz="2200" dirty="0"/>
          </a:p>
        </p:txBody>
      </p:sp>
      <p:sp>
        <p:nvSpPr>
          <p:cNvPr id="12" name="Text 10"/>
          <p:cNvSpPr txBox="1"/>
          <p:nvPr/>
        </p:nvSpPr>
        <p:spPr>
          <a:xfrm>
            <a:off x="8321040" y="2286000"/>
            <a:ext cx="3063240"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Finish E4 variants (6 of 9 runs done)</a:t>
            </a:r>
            <a:endParaRPr lang="en-US" sz="1800" dirty="0"/>
          </a:p>
          <a:p>
            <a:pPr marL="342900" indent="-342900">
              <a:spcAft>
                <a:spcPts val="800"/>
              </a:spcAft>
              <a:buSzPct val="100000"/>
              <a:buChar char="•"/>
            </a:pPr>
            <a:r>
              <a:rPr lang="en-US" sz="1800" dirty="0">
                <a:solidFill>
                  <a:schemeClr val="bg1"/>
                </a:solidFill>
              </a:rPr>
              <a:t>E5 projection ablation</a:t>
            </a:r>
            <a:endParaRPr lang="en-US" sz="1800" dirty="0"/>
          </a:p>
          <a:p>
            <a:pPr marL="342900" indent="-342900">
              <a:spcAft>
                <a:spcPts val="800"/>
              </a:spcAft>
              <a:buSzPct val="100000"/>
              <a:buChar char="•"/>
            </a:pPr>
            <a:r>
              <a:rPr lang="en-US" sz="1800" dirty="0">
                <a:solidFill>
                  <a:schemeClr val="bg1"/>
                </a:solidFill>
              </a:rPr>
              <a:t>Unprojected-RL baseline</a:t>
            </a:r>
            <a:endParaRPr lang="en-US" sz="1800" dirty="0"/>
          </a:p>
          <a:p>
            <a:pPr marL="342900" indent="-342900">
              <a:spcAft>
                <a:spcPts val="800"/>
              </a:spcAft>
              <a:buSzPct val="100000"/>
              <a:buChar char="•"/>
            </a:pPr>
            <a:r>
              <a:rPr lang="en-US" sz="1800" dirty="0">
                <a:solidFill>
                  <a:schemeClr val="bg1"/>
                </a:solidFill>
              </a:rPr>
              <a:t>Optional SAC-Lagrangian</a:t>
            </a:r>
            <a:endParaRPr lang="en-US" sz="1800" dirty="0"/>
          </a:p>
          <a:p>
            <a:pPr marL="342900" indent="-342900">
              <a:spcAft>
                <a:spcPts val="800"/>
              </a:spcAft>
              <a:buSzPct val="100000"/>
              <a:buChar char="•"/>
            </a:pPr>
            <a:r>
              <a:rPr lang="en-US" sz="1800" dirty="0">
                <a:solidFill>
                  <a:schemeClr val="bg1"/>
                </a:solidFill>
              </a:rPr>
              <a:t>Final report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SafeCharge">
  <a:themeElements>
    <a:clrScheme name="SafeCharge">
      <a:dk1>
        <a:srgbClr val="1B1F2A"/>
      </a:dk1>
      <a:lt1>
        <a:srgbClr val="FFFFFF"/>
      </a:lt1>
      <a:dk2>
        <a:srgbClr val="0B2545"/>
      </a:dk2>
      <a:lt2>
        <a:srgbClr val="EAF0F7"/>
      </a:lt2>
      <a:accent1>
        <a:srgbClr val="13A89E"/>
      </a:accent1>
      <a:accent2>
        <a:srgbClr val="F2A900"/>
      </a:accent2>
      <a:accent3>
        <a:srgbClr val="D55E00"/>
      </a:accent3>
      <a:accent4>
        <a:srgbClr val="0072B2"/>
      </a:accent4>
      <a:accent5>
        <a:srgbClr val="5B6B80"/>
      </a:accent5>
      <a:accent6>
        <a:srgbClr val="2E8B57"/>
      </a:accent6>
      <a:hlink>
        <a:srgbClr val="0072B2"/>
      </a:hlink>
      <a:folHlink>
        <a:srgbClr val="5B6B80"/>
      </a:folHlink>
    </a:clrScheme>
    <a:fontScheme name="SafeChar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SafeCharge-RL Mid-review</dc:title>
  <dc:subject>PptxGenJS Presentation</dc:subject>
  <dc:creator>Team 32</dc:creator>
  <cp:lastModifiedBy>Team 32</cp:lastModifiedBy>
  <cp:revision>1</cp:revision>
  <dcterms:created xsi:type="dcterms:W3CDTF">2026-10-10T01:18:00Z</dcterms:created>
  <dcterms:modified xsi:type="dcterms:W3CDTF">2026-10-10T01:18:00Z</dcterms:modified>
</cp:coreProperties>
</file>